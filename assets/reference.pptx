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ba15324b5d4a1e" /><Relationship Type="http://schemas.openxmlformats.org/officeDocument/2006/relationships/extended-properties" Target="/docProps/app.xml" Id="R9cedf473b9454d57" /><Relationship Type="http://schemas.openxmlformats.org/officeDocument/2006/relationships/officeDocument" Target="/ppt/presentation.xml" Id="R3a4e5730ae934554" /></Relationships>
</file>

<file path=ppt/presentation.xml><?xml version="1.0" encoding="utf-8"?>
<p:presentation xmlns:p="http://schemas.openxmlformats.org/presentationml/2006/main">
  <p:sldMasterIdLst>
    <p:sldMasterId xmlns:r="http://schemas.openxmlformats.org/officeDocument/2006/relationships" id="2147483648" r:id="R8b679dc6520d466e"/>
  </p:sldMasterIdLst>
  <p:notesMasterIdLst>
    <p:notesMasterId xmlns:r="http://schemas.openxmlformats.org/officeDocument/2006/relationships" r:id="R39ab5047eb6e4b53"/>
  </p:notesMasterIdLst>
  <p:sldIdLst>
    <p:sldId xmlns:r="http://schemas.openxmlformats.org/officeDocument/2006/relationships" id="256" r:id="R4b53cad8e30e4d22"/>
    <p:sldId xmlns:r="http://schemas.openxmlformats.org/officeDocument/2006/relationships" id="257" r:id="R1a4d647e1dc34e19"/>
    <p:sldId xmlns:r="http://schemas.openxmlformats.org/officeDocument/2006/relationships" id="258" r:id="Rd18c9eda541f4c29"/>
    <p:sldId xmlns:r="http://schemas.openxmlformats.org/officeDocument/2006/relationships" id="259" r:id="Re81e32ec15c94a79"/>
    <p:sldId xmlns:r="http://schemas.openxmlformats.org/officeDocument/2006/relationships" id="260" r:id="Rafb36b81a7924402"/>
    <p:sldId xmlns:r="http://schemas.openxmlformats.org/officeDocument/2006/relationships" id="261" r:id="R25758e913bc8444c"/>
    <p:sldId xmlns:r="http://schemas.openxmlformats.org/officeDocument/2006/relationships" id="262" r:id="R8520f41931ed41a6"/>
    <p:sldId xmlns:r="http://schemas.openxmlformats.org/officeDocument/2006/relationships" id="263" r:id="R255c6ef819714fbe"/>
    <p:sldId xmlns:r="http://schemas.openxmlformats.org/officeDocument/2006/relationships" id="264" r:id="R35696125239f4415"/>
    <p:sldId xmlns:r="http://schemas.openxmlformats.org/officeDocument/2006/relationships" id="265" r:id="R567e5f5070d54155"/>
    <p:sldId xmlns:r="http://schemas.openxmlformats.org/officeDocument/2006/relationships" id="266" r:id="Rb276ef40ad374ac0"/>
    <p:sldId xmlns:r="http://schemas.openxmlformats.org/officeDocument/2006/relationships" id="267" r:id="Re8bb63b318ff4765"/>
    <p:sldId xmlns:r="http://schemas.openxmlformats.org/officeDocument/2006/relationships" id="268" r:id="R7b1cb3a33b2c4cae"/>
    <p:sldId xmlns:r="http://schemas.openxmlformats.org/officeDocument/2006/relationships" id="269" r:id="Rad81a79dac4d4213"/>
    <p:sldId xmlns:r="http://schemas.openxmlformats.org/officeDocument/2006/relationships" id="270" r:id="Rb5550fabcf074959"/>
    <p:sldId xmlns:r="http://schemas.openxmlformats.org/officeDocument/2006/relationships" id="271" r:id="Rd54430f945514e83"/>
    <p:sldId xmlns:r="http://schemas.openxmlformats.org/officeDocument/2006/relationships" id="272" r:id="R7e098665a1b14760"/>
    <p:sldId xmlns:r="http://schemas.openxmlformats.org/officeDocument/2006/relationships" id="273" r:id="R9f2827891cd741d1"/>
    <p:sldId xmlns:r="http://schemas.openxmlformats.org/officeDocument/2006/relationships" id="274" r:id="R15493afe9c5a4045"/>
    <p:sldId xmlns:r="http://schemas.openxmlformats.org/officeDocument/2006/relationships" id="275" r:id="R385b1f00328b47fc"/>
    <p:sldId xmlns:r="http://schemas.openxmlformats.org/officeDocument/2006/relationships" id="276" r:id="R77d490ac2a1246a7"/>
    <p:sldId xmlns:r="http://schemas.openxmlformats.org/officeDocument/2006/relationships" id="277" r:id="R21e3e11acb49415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83ff29f46b4b23" /><Relationship Type="http://schemas.openxmlformats.org/officeDocument/2006/relationships/slideMaster" Target="/ppt/slideMasters/slideMaster1.xml" Id="R8b679dc6520d466e" /><Relationship Type="http://schemas.openxmlformats.org/officeDocument/2006/relationships/notesMaster" Target="/ppt/notesMasters/notesMaster1.xml" Id="R39ab5047eb6e4b53" /><Relationship Type="http://schemas.openxmlformats.org/officeDocument/2006/relationships/presProps" Target="/ppt/presProps.xml" Id="Rff8f027598db44b3" /><Relationship Type="http://schemas.openxmlformats.org/officeDocument/2006/relationships/tableStyles" Target="/ppt/tableStyles.xml" Id="R5e505ef4f98643a5" /><Relationship Type="http://schemas.openxmlformats.org/officeDocument/2006/relationships/slide" Target="/ppt/slides/slide1.xml" Id="R4b53cad8e30e4d22" /><Relationship Type="http://schemas.openxmlformats.org/officeDocument/2006/relationships/slide" Target="/ppt/slides/slide2.xml" Id="R1a4d647e1dc34e19" /><Relationship Type="http://schemas.openxmlformats.org/officeDocument/2006/relationships/slide" Target="/ppt/slides/slide3.xml" Id="Rd18c9eda541f4c29" /><Relationship Type="http://schemas.openxmlformats.org/officeDocument/2006/relationships/slide" Target="/ppt/slides/slide4.xml" Id="Re81e32ec15c94a79" /><Relationship Type="http://schemas.openxmlformats.org/officeDocument/2006/relationships/slide" Target="/ppt/slides/slide5.xml" Id="Rafb36b81a7924402" /><Relationship Type="http://schemas.openxmlformats.org/officeDocument/2006/relationships/slide" Target="/ppt/slides/slide6.xml" Id="R25758e913bc8444c" /><Relationship Type="http://schemas.openxmlformats.org/officeDocument/2006/relationships/slide" Target="/ppt/slides/slide7.xml" Id="R8520f41931ed41a6" /><Relationship Type="http://schemas.openxmlformats.org/officeDocument/2006/relationships/slide" Target="/ppt/slides/slide8.xml" Id="R255c6ef819714fbe" /><Relationship Type="http://schemas.openxmlformats.org/officeDocument/2006/relationships/slide" Target="/ppt/slides/slide9.xml" Id="R35696125239f4415" /><Relationship Type="http://schemas.openxmlformats.org/officeDocument/2006/relationships/slide" Target="/ppt/slides/slide10.xml" Id="R567e5f5070d54155" /><Relationship Type="http://schemas.openxmlformats.org/officeDocument/2006/relationships/slide" Target="/ppt/slides/slide11.xml" Id="Rb276ef40ad374ac0" /><Relationship Type="http://schemas.openxmlformats.org/officeDocument/2006/relationships/slide" Target="/ppt/slides/slide12.xml" Id="Re8bb63b318ff4765" /><Relationship Type="http://schemas.openxmlformats.org/officeDocument/2006/relationships/slide" Target="/ppt/slides/slide13.xml" Id="R7b1cb3a33b2c4cae" /><Relationship Type="http://schemas.openxmlformats.org/officeDocument/2006/relationships/slide" Target="/ppt/slides/slide14.xml" Id="Rad81a79dac4d4213" /><Relationship Type="http://schemas.openxmlformats.org/officeDocument/2006/relationships/slide" Target="/ppt/slides/slide15.xml" Id="Rb5550fabcf074959" /><Relationship Type="http://schemas.openxmlformats.org/officeDocument/2006/relationships/slide" Target="/ppt/slides/slide16.xml" Id="Rd54430f945514e83" /><Relationship Type="http://schemas.openxmlformats.org/officeDocument/2006/relationships/slide" Target="/ppt/slides/slide17.xml" Id="R7e098665a1b14760" /><Relationship Type="http://schemas.openxmlformats.org/officeDocument/2006/relationships/slide" Target="/ppt/slides/slide18.xml" Id="R9f2827891cd741d1" /><Relationship Type="http://schemas.openxmlformats.org/officeDocument/2006/relationships/slide" Target="/ppt/slides/slide19.xml" Id="R15493afe9c5a4045" /><Relationship Type="http://schemas.openxmlformats.org/officeDocument/2006/relationships/slide" Target="/ppt/slides/slide20.xml" Id="R385b1f00328b47fc" /><Relationship Type="http://schemas.openxmlformats.org/officeDocument/2006/relationships/slide" Target="/ppt/slides/slide21.xml" Id="R77d490ac2a1246a7" /><Relationship Type="http://schemas.openxmlformats.org/officeDocument/2006/relationships/slide" Target="/ppt/slides/slide22.xml" Id="R21e3e11acb4941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e9d9ebf0f543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52eebd7a84491a" /><Relationship Type="http://schemas.openxmlformats.org/officeDocument/2006/relationships/notesMaster" Target="/ppt/notesMasters/notesMaster1.xml" Id="Rad50043c4a8a48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875abc3a2e4266" /><Relationship Type="http://schemas.openxmlformats.org/officeDocument/2006/relationships/notesMaster" Target="/ppt/notesMasters/notesMaster1.xml" Id="Re32d9d141cfc40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79f00dd35b4bb3" /><Relationship Type="http://schemas.openxmlformats.org/officeDocument/2006/relationships/notesMaster" Target="/ppt/notesMasters/notesMaster1.xml" Id="R5d418939516341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a451a3013d4d09" /><Relationship Type="http://schemas.openxmlformats.org/officeDocument/2006/relationships/notesMaster" Target="/ppt/notesMasters/notesMaster1.xml" Id="R1acd494acb0b42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f1a06bfefe4c82" /><Relationship Type="http://schemas.openxmlformats.org/officeDocument/2006/relationships/notesMaster" Target="/ppt/notesMasters/notesMaster1.xml" Id="R3b5289ff904e48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b09801296948a3" /><Relationship Type="http://schemas.openxmlformats.org/officeDocument/2006/relationships/notesMaster" Target="/ppt/notesMasters/notesMaster1.xml" Id="R1a6bc7da0b324f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35976fa5144868" /><Relationship Type="http://schemas.openxmlformats.org/officeDocument/2006/relationships/notesMaster" Target="/ppt/notesMasters/notesMaster1.xml" Id="Rd254c8b745ef48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1dd55fbaf54ac1" /><Relationship Type="http://schemas.openxmlformats.org/officeDocument/2006/relationships/notesMaster" Target="/ppt/notesMasters/notesMaster1.xml" Id="R85425f3ec6e94f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a6954fe40f4070" /><Relationship Type="http://schemas.openxmlformats.org/officeDocument/2006/relationships/notesMaster" Target="/ppt/notesMasters/notesMaster1.xml" Id="R1d6e4928945943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1254a78cdf435f" /><Relationship Type="http://schemas.openxmlformats.org/officeDocument/2006/relationships/notesMaster" Target="/ppt/notesMasters/notesMaster1.xml" Id="Rac39761b0db949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6e1f9457b8436b" /><Relationship Type="http://schemas.openxmlformats.org/officeDocument/2006/relationships/notesMaster" Target="/ppt/notesMasters/notesMaster1.xml" Id="Rac04f8f001a244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dcbccb52ca4aa1" /><Relationship Type="http://schemas.openxmlformats.org/officeDocument/2006/relationships/notesMaster" Target="/ppt/notesMasters/notesMaster1.xml" Id="Rbe58ce739a0749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8c40b7604c4756" /><Relationship Type="http://schemas.openxmlformats.org/officeDocument/2006/relationships/notesMaster" Target="/ppt/notesMasters/notesMaster1.xml" Id="R5f9bb9c0336443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ff452889664e3c" /><Relationship Type="http://schemas.openxmlformats.org/officeDocument/2006/relationships/notesMaster" Target="/ppt/notesMasters/notesMaster1.xml" Id="Ra64c7e14ea444b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980db9d2d44e0c" /><Relationship Type="http://schemas.openxmlformats.org/officeDocument/2006/relationships/notesMaster" Target="/ppt/notesMasters/notesMaster1.xml" Id="Rbc7ae6a6cb8441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b7317cd9e44deb" /><Relationship Type="http://schemas.openxmlformats.org/officeDocument/2006/relationships/notesMaster" Target="/ppt/notesMasters/notesMaster1.xml" Id="R85a559b571114c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d17b63f96a4014" /><Relationship Type="http://schemas.openxmlformats.org/officeDocument/2006/relationships/notesMaster" Target="/ppt/notesMasters/notesMaster1.xml" Id="R62a97134e371435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3ae1885e764a41" /><Relationship Type="http://schemas.openxmlformats.org/officeDocument/2006/relationships/notesMaster" Target="/ppt/notesMasters/notesMaster1.xml" Id="R33b905e6edd945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53ac9e68b64e07" /><Relationship Type="http://schemas.openxmlformats.org/officeDocument/2006/relationships/notesMaster" Target="/ppt/notesMasters/notesMaster1.xml" Id="Rff1b62bcb97747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44be28ccd1547a9" /><Relationship Type="http://schemas.openxmlformats.org/officeDocument/2006/relationships/notesMaster" Target="/ppt/notesMasters/notesMaster1.xml" Id="Rc03f32682d7c42c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384142c7e34c53" /><Relationship Type="http://schemas.openxmlformats.org/officeDocument/2006/relationships/notesMaster" Target="/ppt/notesMasters/notesMaster1.xml" Id="R03faf31ca23942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3e142e8c5894169" /><Relationship Type="http://schemas.openxmlformats.org/officeDocument/2006/relationships/notesMaster" Target="/ppt/notesMasters/notesMaster1.xml" Id="Rf9f3f246d7d240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회사와 제품 계층, 적용 사례, 주요 기능, 사전 질의에 대한 상세 답변, 증권 샘플 순서로 설명합니다. 핵심은 초기 그래프 생성뿐 아니라 변경 이후의 검증과 운영입니다.</a:t>
            </a:r>
          </a:p>
          <a:p xmlns:a="http://schemas.openxmlformats.org/drawingml/2006/main">
            <a:r>
              <a:t/>
            </a:r>
          </a:p>
          <a:p xmlns:a="http://schemas.openxmlformats.org/drawingml/2006/main">
            <a:r>
              <a:t>출처</a:t>
            </a:r>
          </a:p>
          <a:p xmlns:a="http://schemas.openxmlformats.org/drawingml/2006/main">
            <a:r>
              <a:t>/Users/uengine/uengine-platform/demo-securities/requirement/Requirement.md</a:t>
            </a:r>
          </a:p>
          <a:p xmlns:a="http://schemas.openxmlformats.org/drawingml/2006/main">
            <a:r>
              <a:t>/Users/uengine/Downloads/MSASchool_교과정제안서수정본 (2).pdf (표지 사진 및 디자인 참조, 교육 브랜드 로고는 유엔진 로고로 대체)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2003년은 오픈소스 기술의 출발이며 법인 설립은 2007년입니다. CDSS 연도는 원본 고혈압예제구현_수정.ppt의 Jan/2007을 사용했습니다. 사용자는 당시 Protégé로 CDSS 온톨로지를 구축했으며 EHR 연동을 위해 스키마 매퍼, 현재 데이터 패브릭과 유사한 접근의 기술을 적용했다고 직접 확인했습니다. 장진영_이력서.hwp 13쪽에 복합지식 기반의 이러닝 오픈 프레임워크 개발, 2012.10.01~2013.09.30, 참여연구원, 산기평, 기 완료로 기재되어 있습니다. 온톨로지 기반이라는 성격은 사용자 설명에 따릅니다. 개인 참여연구 경력을 법인 단독 수행 실적으로 바꾸지 않습니다. 수자원은 시범구축 자료로 제한합니다.</a:t>
            </a:r>
          </a:p>
          <a:p xmlns:a="http://schemas.openxmlformats.org/drawingml/2006/main">
            <a:r>
              <a:t/>
            </a:r>
          </a:p>
          <a:p xmlns:a="http://schemas.openxmlformats.org/drawingml/2006/main">
            <a:r>
              <a:t>출처</a:t>
            </a:r>
          </a:p>
          <a:p xmlns:a="http://schemas.openxmlformats.org/drawingml/2006/main">
            <a:r>
              <a:t>https://www.uengine.org/contents/history.html (로컬 저장소의 동일 페이지)</a:t>
            </a:r>
          </a:p>
          <a:p xmlns:a="http://schemas.openxmlformats.org/drawingml/2006/main">
            <a:r>
              <a:t>https://docs.google.com/presentation/d/1RX36tHu67AoMB7GVLo2_kSkUkGwOH6yp/edit</a:t>
            </a:r>
          </a:p>
          <a:p xmlns:a="http://schemas.openxmlformats.org/drawingml/2006/main">
            <a:r>
              <a:t>https://drive.google.com/file/d/18cqtt_JwqY_V6apOzAVI9G_LH9SB8GWZ/view (13쪽)</a:t>
            </a:r>
          </a:p>
          <a:p xmlns:a="http://schemas.openxmlformats.org/drawingml/2006/main">
            <a:r>
              <a:t>사용자 직접 설명: CDSS의 Protégé·EHR 스키마 매퍼 적용, 2026-10-04</a:t>
            </a:r>
          </a:p>
          <a:p xmlns:a="http://schemas.openxmlformats.org/drawingml/2006/main">
            <a:r>
              <a:t>https://www.uengine.org/contents/ontologic.html (로컬 저장소의 동일 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제목: EHR사업단 BPM과 BRE를 이용한 고혈압 진료 프로세스 구현, Lee jaehoon, Jan/2007, www.uengine.org. 본 이미지는 원본 2쪽에서 추출한 프로세스 화면입니다. 화면은 BPM 부분을 보여주며 Protégé나 스키마 매퍼 화면이 아닙니다. Protégé 기반 CDSS 온톨로지와 EHR 시스템용 스키마 매퍼의 사용은 사용자가 직접 제공한 수행 경험입니다. 현재 데이터 패브릭과 유사한 접근으로 설명하되 당시 제품명이나 오늘날 데이터 패브릭 전 기능이 구현되었다고 주장하지 않습니다. Guideline implemented by BPM.ppt는 workflow/page-flow/decision-flow를 서브프로세스로 연결하는 접근을 설명합니다. 병원 운영 규모나 임상 효과는 주장하지 않습니다.</a:t>
            </a:r>
          </a:p>
          <a:p xmlns:a="http://schemas.openxmlformats.org/drawingml/2006/main">
            <a:r>
              <a:t/>
            </a:r>
          </a:p>
          <a:p xmlns:a="http://schemas.openxmlformats.org/drawingml/2006/main">
            <a:r>
              <a:t>출처</a:t>
            </a:r>
          </a:p>
          <a:p xmlns:a="http://schemas.openxmlformats.org/drawingml/2006/main">
            <a:r>
              <a:t>https://docs.google.com/presentation/d/1RX36tHu67AoMB7GVLo2_kSkUkGwOH6yp/edit</a:t>
            </a:r>
          </a:p>
          <a:p xmlns:a="http://schemas.openxmlformats.org/drawingml/2006/main">
            <a:r>
              <a:t>https://docs.google.com/presentation/d/1fvec46ayHpOkXK6nPY0LMUO_DuZ2dCV-/edit</a:t>
            </a:r>
          </a:p>
          <a:p xmlns:a="http://schemas.openxmlformats.org/drawingml/2006/main">
            <a:r>
              <a:t>사용자 직접 설명: CDSS의 Protégé·EHR 스키마 매퍼 적용, 2026-10-04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공식 홈페이지 쇼케이스의 네 계층과 제품 매핑을 따릅니다. L1은 오케스트레이션, L2는 에이전트, L3는 온톨로지, L4는 데이터 소스입니다. 데이터 원천 자체는 고객사의 기존 시스템이며 Robo Analyzer와 Legacy 제품은 이를 분석·현대화하는 도구입니다. uEngine Cloud는 네 계층 번호를 바꾸지 않고 별도 운영 기반으로 소개합니다.</a:t>
            </a:r>
          </a:p>
          <a:p xmlns:a="http://schemas.openxmlformats.org/drawingml/2006/main">
            <a:r>
              <a:t/>
            </a:r>
          </a:p>
          <a:p xmlns:a="http://schemas.openxmlformats.org/drawingml/2006/main">
            <a:r>
              <a:t>출처</a:t>
            </a:r>
          </a:p>
          <a:p xmlns:a="http://schemas.openxmlformats.org/drawingml/2006/main">
            <a:r>
              <a:t>/Users/uengine/uengine-new.github.io/contents/showcase.html</a:t>
            </a:r>
          </a:p>
          <a:p xmlns:a="http://schemas.openxmlformats.org/drawingml/2006/main">
            <a:r>
              <a:t>/Users/uengine/uengine-new.github.io/contents/uenginecloud.html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Ontology Studio는 설계와 구축 도구, Ontologic Platform은 데이터 인텔리전스 실행 플랫폼, Process GPT는 업무 오케스트레이션 제품으로 설명합니다. What-if와 감시는 제품의 기능 영역이며 현대차증권에 적용할 계산 모델과 임계값은 도메인별 구성이 필요합니다. 증권 데모의 실제 경로는 Studio MCP와 데이터 패브릭을 Process GPT 에이전트가 호출하는 구성입니다.</a:t>
            </a:r>
          </a:p>
          <a:p xmlns:a="http://schemas.openxmlformats.org/drawingml/2006/main">
            <a:r>
              <a:t/>
            </a:r>
          </a:p>
          <a:p xmlns:a="http://schemas.openxmlformats.org/drawingml/2006/main">
            <a:r>
              <a:t>출처</a:t>
            </a:r>
          </a:p>
          <a:p xmlns:a="http://schemas.openxmlformats.org/drawingml/2006/main">
            <a:r>
              <a:t>https://www.uengine.org/contents/ontologystudio.html (로컬 저장소의 동일 페이지)</a:t>
            </a:r>
          </a:p>
          <a:p xmlns:a="http://schemas.openxmlformats.org/drawingml/2006/main">
            <a:r>
              <a:t>https://www.uengine.org/contents/ontologic.html (로컬 저장소의 동일 페이지)</a:t>
            </a:r>
          </a:p>
          <a:p xmlns:a="http://schemas.openxmlformats.org/drawingml/2006/main">
            <a:r>
              <a:t>/Users/uengine/uengine-new.github.io/contents/processgpt.html</a:t>
            </a:r>
          </a:p>
          <a:p xmlns:a="http://schemas.openxmlformats.org/drawingml/2006/main">
            <a:r>
              <a:t>/Users/uengine/uengine-platform/demo-securities/ep3-mcp-er/README.md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SKT는 공식 연혁의 2026년 OSS 영역 프로세스 자산화 및 Agentic 기반 자동화 구축 기록을 인용했습니다. 운영 범위·효과 수치는 제시하지 않습니다. K-water는 2026-03-29 시범구축·진도보고서의 시설·규정·관측을 연결하는 모델을 요약했습니다. 보고서의 STLogic Ontology Engineering Partner 표기를 고려하여 유엔진 단독 납품이나 전사 운영으로 표현하지 않습니다. 한전은 사용자가 추가 제공한 해외사업 AI 에이전트 PoC 사례를 반영합니다. 문서 생성의 프로세스 내 자동 수행과 정성 성과는 제공 자료에 근거합니다. 시연용 문서와 데이터이며 별도 정량 측정값은 없습니다. 이 사례를 온톨로지 구축 실적으로 확대하지 않습니다.</a:t>
            </a:r>
          </a:p>
          <a:p xmlns:a="http://schemas.openxmlformats.org/drawingml/2006/main">
            <a:r>
              <a:t/>
            </a:r>
          </a:p>
          <a:p xmlns:a="http://schemas.openxmlformats.org/drawingml/2006/main">
            <a:r>
              <a:t>출처</a:t>
            </a:r>
          </a:p>
          <a:p xmlns:a="http://schemas.openxmlformats.org/drawingml/2006/main">
            <a:r>
              <a:t>https://www.uengine.org/contents/history.html (로컬 저장소의 동일 페이지)</a:t>
            </a:r>
          </a:p>
          <a:p xmlns:a="http://schemas.openxmlformats.org/drawingml/2006/main">
            <a:r>
              <a:t>/Users/uengine/k-water-2/K-Water-AIR/air-swmm/docs/kwater_온톨로지시범구축 및 진도보고_20260329.pptx</a:t>
            </a:r>
          </a:p>
          <a:p xmlns:a="http://schemas.openxmlformats.org/drawingml/2006/main">
            <a:r>
              <a:t>/Users/uengine/연구과제/AICA/output/kepco_case/한전_해외사업_AI에이전트_PoC_사례.pptx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제공한 통신사_OSS_Agentic_BPM_제안서_edited.pptx의 8번째 슬라이드(원본 표기 11/19)에서 도메인 모델 그림을 발췌했습니다. 고객, 서비스, 자원, 운영, 정책/공통의 다섯 도메인을 SID와 정렬하고 서비스 개통·장애 처리에 결합하는 제안 구조입니다. 본문에 보이는 모델은 제안 설계이며 모든 클래스·도구·거버넌스 기능의 운영 완료를 증명하는 자료는 아닙니다. 공식 연혁의 구축 이력과 이 구체 설계의 범위를 구분해 설명합니다. 원본 글로벌 벤치마크 수치는 본 발표에 전재하지 않았습니다. 증권사에서도 고객·계좌·상품·규정·업무를 같은 방식으로 연결한다는 적용 관점을 설명합니다.</a:t>
            </a:r>
          </a:p>
          <a:p xmlns:a="http://schemas.openxmlformats.org/drawingml/2006/main">
            <a:r>
              <a:t/>
            </a:r>
          </a:p>
          <a:p xmlns:a="http://schemas.openxmlformats.org/drawingml/2006/main">
            <a:r>
              <a:t>출처</a:t>
            </a:r>
          </a:p>
          <a:p xmlns:a="http://schemas.openxmlformats.org/drawingml/2006/main">
            <a:r>
              <a:t>/Users/uengine/skt/OSS/통신사_OSS_Agentic_BPM_제안서_edited.pptx (8쪽)</a:t>
            </a:r>
          </a:p>
          <a:p xmlns:a="http://schemas.openxmlformats.org/drawingml/2006/main">
            <a:r>
              <a:t>https://www.uengine.org/contents/history.html (로컬 저장소의 동일 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제공한 한전 해외사업 AI에이전트 PoC 사례 3~5쪽을 요약했습니다. PoC 적용 구조는 BPMN의 AI 활동으로 문서 초안을 생성하고 담당자가 워크아이템에서 검토·승인하며 프로세스 인스턴스에 생성 이력을 남기는 방식입니다. 사진은 대화형 데모에서 생성한 PDF의 NDA 비교표를 보여줍니다. BPMN과 승인 UI 자체를 이 이미지가 증명하지는 않습니다. 이 사례는 문서 지식 활용과 Process GPT 실행의 적용 사례이며 별도 온톨로지 구축 실적으로 확대하지 않습니다. 검토 결과의 법률적 정확성을 정량 검증했다고 주장하지 않습니다. 원본 영상 시점은 약 01:12~01:17이며 시연용 가상 문서입니다.</a:t>
            </a:r>
          </a:p>
          <a:p xmlns:a="http://schemas.openxmlformats.org/drawingml/2006/main">
            <a:r>
              <a:t/>
            </a:r>
          </a:p>
          <a:p xmlns:a="http://schemas.openxmlformats.org/drawingml/2006/main">
            <a:r>
              <a:t>출처</a:t>
            </a:r>
          </a:p>
          <a:p xmlns:a="http://schemas.openxmlformats.org/drawingml/2006/main">
            <a:r>
              <a:t>/Users/uengine/연구과제/AICA/output/kepco_case/한전_해외사업_AI에이전트_PoC_사례.pptx (3~5쪽)</a:t>
            </a:r>
          </a:p>
          <a:p xmlns:a="http://schemas.openxmlformats.org/drawingml/2006/main">
            <a:r>
              <a:t>https://www.youtube.com/watch?v=w1EgAn5d2Gg&amp;t=72s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자료 5~9쪽에 포함된 NDA 검토, 감사보고서 기반 재무제표 작성, RFI 번역, 계약 비교 사례를 반영했습니다. 성공과 성과는 사용자 제공 사례 설명의 정성 평가입니다. 리드타임 감소율이나 정확도 등 측정값은 없습니다. 증권 적용 아이디어는 본 발표의 제안이며 한전 수행 실적 또는 현대차증권 구현 결과가 아닙니다. 데모의 사업·계약·재무 수치는 가상 데이터입니다. 생성 이력 감사 추적은 제공된 프로세스 적용 구조에 근거합니다.</a:t>
            </a:r>
          </a:p>
          <a:p xmlns:a="http://schemas.openxmlformats.org/drawingml/2006/main">
            <a:r>
              <a:t/>
            </a:r>
          </a:p>
          <a:p xmlns:a="http://schemas.openxmlformats.org/drawingml/2006/main">
            <a:r>
              <a:t>출처</a:t>
            </a:r>
          </a:p>
          <a:p xmlns:a="http://schemas.openxmlformats.org/drawingml/2006/main">
            <a:r>
              <a:t>/Users/uengine/연구과제/AICA/output/kepco_case/한전_해외사업_AI에이전트_PoC_사례.pptx (5~9쪽)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페이지에 공개된 실제 화면입니다. 각 관계에 조인 키와 매핑을 명시하고, preview로 원천을 가로지르는 조회를 검증하는 구조를 설명합니다. 문서에서 추출한 관계를 업무 의미에 맞게 확정하는 단계는 전문가 검수를 포함합니다.</a:t>
            </a:r>
          </a:p>
          <a:p xmlns:a="http://schemas.openxmlformats.org/drawingml/2006/main">
            <a:r>
              <a:t/>
            </a:r>
          </a:p>
          <a:p xmlns:a="http://schemas.openxmlformats.org/drawingml/2006/main">
            <a:r>
              <a:t>출처</a:t>
            </a:r>
          </a:p>
          <a:p xmlns:a="http://schemas.openxmlformats.org/drawingml/2006/main">
            <a:r>
              <a:t>https://www.uengine.org/contents/ontologystudio.html (로컬 저장소의 동일 페이지)</a:t>
            </a:r>
          </a:p>
          <a:p xmlns:a="http://schemas.openxmlformats.org/drawingml/2006/main">
            <a:r>
              <a:t>/Users/uengine/uengine-new.github.io/images/ontology/onto-db-classes.jpg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증권 샘플 실제 BPMN 화면입니다. 업무는 편입 요청 등록, 고객·보유 확인, 편입 한도 심사, 준법 검토 승인, 고객 안내 또는 반려 기록으로 진행합니다. 에이전트의 판단 결과가 사람 승인 단계를 통과하도록 프로세스에 배치합니다. 증권 고객·상품·조항·수치는 모델링 예시이며 실제 법령·약관 판정이 아닙니다.</a:t>
            </a:r>
          </a:p>
          <a:p xmlns:a="http://schemas.openxmlformats.org/drawingml/2006/main">
            <a:r>
              <a:t/>
            </a:r>
          </a:p>
          <a:p xmlns:a="http://schemas.openxmlformats.org/drawingml/2006/main">
            <a:r>
              <a:t>출처</a:t>
            </a:r>
          </a:p>
          <a:p xmlns:a="http://schemas.openxmlformats.org/drawingml/2006/main">
            <a:r>
              <a:t>/Users/uengine/uengine-platform/demo-securities/README.md</a:t>
            </a:r>
          </a:p>
          <a:p xmlns:a="http://schemas.openxmlformats.org/drawingml/2006/main">
            <a:r>
              <a:t>/Users/uengine/uengine-platform/demo-securities/shots/scene-08.png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Q1: DB 스키마/컬럼과 비정형 문서로 온톨로지를 생성·매핑하는 방법. Q2: 엔티티·관계·속성 자동 생성과 사용자 검수 범위. 스키마 후보와 관계 및 컬럼 바인딩을 생성하되, 의미·동일성·유효기간·예외 해석을 업무 담당자가 확정합니다. 마케팅 페이지의 자동화 표현을 무검수 전자동으로 확대하지 않습니다. 복잡한 문서 파서, 업무 규칙과 키 정규화는 표본 검증 후 적용 범위를 정해야 합니다.</a:t>
            </a:r>
          </a:p>
          <a:p xmlns:a="http://schemas.openxmlformats.org/drawingml/2006/main">
            <a:r>
              <a:t/>
            </a:r>
          </a:p>
          <a:p xmlns:a="http://schemas.openxmlformats.org/drawingml/2006/main">
            <a:r>
              <a:t>출처</a:t>
            </a:r>
          </a:p>
          <a:p xmlns:a="http://schemas.openxmlformats.org/drawingml/2006/main">
            <a:r>
              <a:t>/Users/uengine/uengine-platform/demo-securities/requirement/Requirement.md</a:t>
            </a:r>
          </a:p>
          <a:p xmlns:a="http://schemas.openxmlformats.org/drawingml/2006/main">
            <a:r>
              <a:t>https://www.uengine.org/contents/ontologystudio.html (로컬 저장소의 동일 페이지)</a:t>
            </a:r>
          </a:p>
          <a:p xmlns:a="http://schemas.openxmlformats.org/drawingml/2006/main">
            <a:r>
              <a:t>/Users/uengine/ontologic/ontology-studio/backend/src/modules/ontology/schema_ontology.py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일반적인 데이터 품질 관리 전 범위를 기본 제공으로 단정하지 않습니다. Studio 바인딩 및 발행 계획, preview 조회, 대표 질문 검증을 이용할 수 있습니다. 전체 변경 이벤트 감지, 격리 큐, 영향 데이터의 증분 재처리, 자동 회귀 및 승인 배포는 구축 대상 범위입니다. 증권 데모는 DB SAFE와 개정 조항의 RISK 불일치를 읽고 근거를 설명한 사례이며 원천 마스터를 자동 정정한 사례는 아닙니다.</a:t>
            </a:r>
          </a:p>
          <a:p xmlns:a="http://schemas.openxmlformats.org/drawingml/2006/main">
            <a:r>
              <a:t/>
            </a:r>
          </a:p>
          <a:p xmlns:a="http://schemas.openxmlformats.org/drawingml/2006/main">
            <a:r>
              <a:t>출처</a:t>
            </a:r>
          </a:p>
          <a:p xmlns:a="http://schemas.openxmlformats.org/drawingml/2006/main">
            <a:r>
              <a:t>/Users/uengine/uengine-platform/demo-securities/README.md</a:t>
            </a:r>
          </a:p>
          <a:p xmlns:a="http://schemas.openxmlformats.org/drawingml/2006/main">
            <a:r>
              <a:t>/Users/uengine/ontologic/ontology-studio/backend/src/modules/ontology/publish.py</a:t>
            </a:r>
          </a:p>
          <a:p xmlns:a="http://schemas.openxmlformats.org/drawingml/2006/main">
            <a:r>
              <a:t>/Users/uengine/uengine-platform/demo-securities/requirement/Requirement.md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 화면은 Ontology Studio 기본 배포판이 아니라 Ontological(PostgreSQL 기반 Cypher 그래프 DB) 확장 데모입니다. demo-securities/ep2-temporal에서 스키마 디자이너, 변경 이력, 스냅샷, 변환 불가 값 검증 차단과 재검증을 실행했습니다. 의미상 이름·타입 계층 변경과 물리 타입 변환은 비용이 다릅니다. 모든 스키마 변경이 데이터 이동 없이 수행된다고 주장하지 않습니다. 통합 제품 공급 범위와 Studio–Ontological 연결은 별도 확인 대상입니다. 문서에서 에이전트까지의 영향도를 자동 추적하는 전사 의존성 관리는 추가 모델링·개발 범위입니다.</a:t>
            </a:r>
          </a:p>
          <a:p xmlns:a="http://schemas.openxmlformats.org/drawingml/2006/main">
            <a:r>
              <a:t/>
            </a:r>
          </a:p>
          <a:p xmlns:a="http://schemas.openxmlformats.org/drawingml/2006/main">
            <a:r>
              <a:t>출처</a:t>
            </a:r>
          </a:p>
          <a:p xmlns:a="http://schemas.openxmlformats.org/drawingml/2006/main">
            <a:r>
              <a:t>/Users/uengine/uengine-platform/demo-securities/ep2-temporal/README.md</a:t>
            </a:r>
          </a:p>
          <a:p xmlns:a="http://schemas.openxmlformats.org/drawingml/2006/main">
            <a:r>
              <a:t>/Users/uengine/uengine-platform/demo-securities/ep2-temporal/shots/scene-14b.png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Studio에서 스키마·관계·바인딩을 관리하고 모델 발행과 질의 검증을 할 수 있습니다. 실제 운영자의 역할별 권한, 승인 분리, 복구 절차는 고객 환경에 맞게 구축해야 합니다. 외부 개발자 없이 모든 업무 규칙·파서·커넥터를 변경할 수 있다는 의미는 아닙니다. 고객 자체 운영 목표는 모델과 매핑 및 질의셋, 매뉴얼, 교육, 장애 대응 절차를 함께 인도하는 것으로 제안합니다.</a:t>
            </a:r>
          </a:p>
          <a:p xmlns:a="http://schemas.openxmlformats.org/drawingml/2006/main">
            <a:r>
              <a:t/>
            </a:r>
          </a:p>
          <a:p xmlns:a="http://schemas.openxmlformats.org/drawingml/2006/main">
            <a:r>
              <a:t>출처</a:t>
            </a:r>
          </a:p>
          <a:p xmlns:a="http://schemas.openxmlformats.org/drawingml/2006/main">
            <a:r>
              <a:t>https://www.uengine.org/contents/ontologystudio.html (로컬 저장소의 동일 페이지)</a:t>
            </a:r>
          </a:p>
          <a:p xmlns:a="http://schemas.openxmlformats.org/drawingml/2006/main">
            <a:r>
              <a:t>/Users/uengine/uengine-platform/demo-securities/requirement/Requirement.md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GraphRAG는 지식 그래프와 문서·원천 값에 근거한 질의응답 경로를 뜻하며 MCP는 그 경로를 도구로 노출하는 인터페이스입니다. 데모는 ontology-studio-search의 8개 도구를 Process GPT 에이전트에 연결합니다. graph://schema 리소스를 자동으로 읽는다고 가정하지 않고 스키마 조회 도구를 사용합니다. 엔티티 해소 확장에는 resolved/ambiguous/no_match 상태가 있지만 로컬 평가 오답이 남아 있어 완전 정확성을 주장하지 않습니다. 현재 재실행은 허브를 통한 전 호출 관측이 아닌 직접 MCP 연결 폴백을 사용하므로 전사 MCP Hub 권한·통합 관측은 추가 적용 대상입니다.</a:t>
            </a:r>
          </a:p>
          <a:p xmlns:a="http://schemas.openxmlformats.org/drawingml/2006/main">
            <a:r>
              <a:t/>
            </a:r>
          </a:p>
          <a:p xmlns:a="http://schemas.openxmlformats.org/drawingml/2006/main">
            <a:r>
              <a:t>출처</a:t>
            </a:r>
          </a:p>
          <a:p xmlns:a="http://schemas.openxmlformats.org/drawingml/2006/main">
            <a:r>
              <a:t>/Users/uengine/uengine-platform/demo-securities/ep3-mcp-er/README.md</a:t>
            </a:r>
          </a:p>
          <a:p xmlns:a="http://schemas.openxmlformats.org/drawingml/2006/main">
            <a:r>
              <a:t>/Users/uengine/uengine-platform/demo-securities/requirement/Requirement.md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요청서 Q7에 대한 공급 경계 표입니다. 현재 제품 및 데모에서 확인한 기능을 곧바로 모든 배포판의 기본 계약 기능으로 간주하지 않습니다. 특히 Ontological의 바이템포럴·스키마 진화, 엔티티 해소 재순위, 커스텀 도구 UI는 확장 데모에서 구현한 항목입니다. 제품판·라이선스·배포 구성을 확인하고 견적 및 작업명세에 반영해야 합니다. 변경 감지부터 자동 재처리·승인 배포까지의 전체 운영 자동화는 별도 통합 범위로 제시합니다.</a:t>
            </a:r>
          </a:p>
          <a:p xmlns:a="http://schemas.openxmlformats.org/drawingml/2006/main">
            <a:r>
              <a:t/>
            </a:r>
          </a:p>
          <a:p xmlns:a="http://schemas.openxmlformats.org/drawingml/2006/main">
            <a:r>
              <a:t>출처</a:t>
            </a:r>
          </a:p>
          <a:p xmlns:a="http://schemas.openxmlformats.org/drawingml/2006/main">
            <a:r>
              <a:t>/Users/uengine/uengine-platform/demo-securities/README.md</a:t>
            </a:r>
          </a:p>
          <a:p xmlns:a="http://schemas.openxmlformats.org/drawingml/2006/main">
            <a:r>
              <a:t>/Users/uengine/uengine-platform/demo-securities/ep2-temporal/README.md</a:t>
            </a:r>
          </a:p>
          <a:p xmlns:a="http://schemas.openxmlformats.org/drawingml/2006/main">
            <a:r>
              <a:t>/Users/uengine/uengine-platform/demo-securities/ep3-mcp-er/README.md</a:t>
            </a:r>
          </a:p>
          <a:p xmlns:a="http://schemas.openxmlformats.org/drawingml/2006/main">
            <a:r>
              <a:t>https://www.uengine.org/contents/ontologystudio.html (로컬 저장소의 동일 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원천의 키 이름을 일부러 다르게 구성했습니다. 고객번호 cust_no와 client_id, 상품코드 prod_cd와 product_code의 매핑이 필요합니다. 고객·계좌 데이터를 그래프에 복제하지 않는 가상 조회 구성입니다. 고객명 컬럼의 pii 표시와 조회 제외는 데모 구현 범위이며 금융사 보안 통제를 모두 충족한다는 의미는 아닙니다. 증권 고객·상품·조항·수치는 모델링 예시이며 실제 법령·약관 판정이 아닙니다.</a:t>
            </a:r>
          </a:p>
          <a:p xmlns:a="http://schemas.openxmlformats.org/drawingml/2006/main">
            <a:r>
              <a:t/>
            </a:r>
          </a:p>
          <a:p xmlns:a="http://schemas.openxmlformats.org/drawingml/2006/main">
            <a:r>
              <a:t>출처</a:t>
            </a:r>
          </a:p>
          <a:p xmlns:a="http://schemas.openxmlformats.org/drawingml/2006/main">
            <a:r>
              <a:t>/Users/uengine/uengine-platform/demo-securities/README.md</a:t>
            </a:r>
          </a:p>
          <a:p xmlns:a="http://schemas.openxmlformats.org/drawingml/2006/main">
            <a:r>
              <a:t>/Users/uengine/uengine-platform/demo-securities/build_ontology.py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데모에서 계좌 총평가액 1억2천만원 중 위험자산 5,700만원입니다. 기존 예수금으로 3천만원 편입하므로 총평가액 분모는 동일합니다. 개정 운용지침 2026-07판의 가상 제12조 ②를 적용하면 원금지급비율 90%는 가상 기준 95% 미만으로 위험자산입니다. 샘플 예외 조항은 성립하지 않습니다. 위험자산 비율은 87,000,000/120,000,000=72.5%, 가상 한도 70% 기준 최대 추가액은 27,000,000원입니다. 숫자는 실제 법령 또는 투자 권유 기준이 아닙니다. 계산은 검증된 SQL 집계 경로로 처리합니다.</a:t>
            </a:r>
          </a:p>
          <a:p xmlns:a="http://schemas.openxmlformats.org/drawingml/2006/main">
            <a:r>
              <a:t/>
            </a:r>
          </a:p>
          <a:p xmlns:a="http://schemas.openxmlformats.org/drawingml/2006/main">
            <a:r>
              <a:t>출처</a:t>
            </a:r>
          </a:p>
          <a:p xmlns:a="http://schemas.openxmlformats.org/drawingml/2006/main">
            <a:r>
              <a:t>/Users/uengine/uengine-platform/demo-securities/README.md</a:t>
            </a:r>
          </a:p>
          <a:p xmlns:a="http://schemas.openxmlformats.org/drawingml/2006/main">
            <a:r>
              <a:t>/Users/uengine/uengine-platform/demo-securities/evidence.json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Studio 질의 화면입니다. 이 화면은 상품의 자산 분류 근거를 보여주며 전체 한도 계산 화면은 아닙니다. 후속 Process GPT 심사에서 원천 보유와 규칙을 함께 사용합니다. 데모의 기초자산 집중 판단에서는 편입 상품의 일부 기초자산 구성을 확인하지 못한 한계가 있어 추가 확인 대상으로 설명합니다. 확정되지 않은 자료를 완전한 심사 결과로 표현하지 않습니다. 증권 고객·상품·조항·수치는 모델링 예시이며 실제 법령·약관 판정이 아닙니다.</a:t>
            </a:r>
          </a:p>
          <a:p xmlns:a="http://schemas.openxmlformats.org/drawingml/2006/main">
            <a:r>
              <a:t/>
            </a:r>
          </a:p>
          <a:p xmlns:a="http://schemas.openxmlformats.org/drawingml/2006/main">
            <a:r>
              <a:t>출처</a:t>
            </a:r>
          </a:p>
          <a:p xmlns:a="http://schemas.openxmlformats.org/drawingml/2006/main">
            <a:r>
              <a:t>/Users/uengine/uengine-platform/demo-securities/README.md</a:t>
            </a:r>
          </a:p>
          <a:p xmlns:a="http://schemas.openxmlformats.org/drawingml/2006/main">
            <a:r>
              <a:t>/Users/uengine/uengine-platform/demo-securities/shots/scene-05.png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1편은 Neo4j 기반 Ontology Studio, 2편은 PostgreSQL 기반 Ontological의 별도 확장 데모입니다. 서로 다른 런타임을 하나의 완성된 기본 제품으로 혼동하지 않습니다. 시연은 같은 Cypher 질의에 valid at과 as known at을 달리 지정하여 SAFE/RISK를 확인했습니다. 이름·타입 계층 변경은 카탈로그 수준 처리로 거래 50만 건 재작성 0건인 반면, Trade.qty의 text→int 변경은 50만 건을 재작성하고 변환 불가 값 1건에서 검증 차단 후 정정·재검증했습니다. 일반적인 처리시간 보장이나 모든 변경의 무마이그레이션 주장은 하지 않습니다. 증권 고객·상품·조항·수치는 모델링 예시이며 실제 법령·약관 판정이 아닙니다.</a:t>
            </a:r>
          </a:p>
          <a:p xmlns:a="http://schemas.openxmlformats.org/drawingml/2006/main">
            <a:r>
              <a:t/>
            </a:r>
          </a:p>
          <a:p xmlns:a="http://schemas.openxmlformats.org/drawingml/2006/main">
            <a:r>
              <a:t>출처</a:t>
            </a:r>
          </a:p>
          <a:p xmlns:a="http://schemas.openxmlformats.org/drawingml/2006/main">
            <a:r>
              <a:t>/Users/uengine/uengine-platform/demo-securities/ep2-temporal/README.md</a:t>
            </a:r>
          </a:p>
          <a:p xmlns:a="http://schemas.openxmlformats.org/drawingml/2006/main">
            <a:r>
              <a:t>/Users/uengine/uengine-platform/demo-securities/ep2-temporal/evidence-log.json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사전 질의의 핵심인 지속 변경 환경에서의 검증·운영을 초기 검증 범위에 포함하자는 제안입니다. 기간·비용·성과 수치는 미정이며 고객사의 샘플과 인프라 조건을 확인한 뒤 합의합니다. 선택 시연 자산: 1) 연금계좌 상품 편입 심사, 2) 시점 질의와 스키마 변경, 3) MCP와 엔티티 해소. 발표 현장에서 전체 영상을 모두 재생할 필요 없이 질문에 맞춰 선택할 수 있습니다.</a:t>
            </a:r>
          </a:p>
          <a:p xmlns:a="http://schemas.openxmlformats.org/drawingml/2006/main">
            <a:r>
              <a:t/>
            </a:r>
          </a:p>
          <a:p xmlns:a="http://schemas.openxmlformats.org/drawingml/2006/main">
            <a:r>
              <a:t>출처</a:t>
            </a:r>
          </a:p>
          <a:p xmlns:a="http://schemas.openxmlformats.org/drawingml/2006/main">
            <a:r>
              <a:t>/Users/uengine/uengine-platform/demo-securities/requirement/Requirement.md</a:t>
            </a:r>
          </a:p>
          <a:p xmlns:a="http://schemas.openxmlformats.org/drawingml/2006/main">
            <a:r>
              <a:t>/Users/uengine/uengine-platform/demo-securities/연금계좌-상품편입-심사-시연-자막포함.mp4</a:t>
            </a:r>
          </a:p>
          <a:p xmlns:a="http://schemas.openxmlformats.org/drawingml/2006/main">
            <a:r>
              <a:t>/Users/uengine/uengine-platform/demo-securities/ep2-temporal/확장편-시점질의-스키마변경-시연-자막포함.mp4</a:t>
            </a:r>
          </a:p>
          <a:p xmlns:a="http://schemas.openxmlformats.org/drawingml/2006/main">
            <a:r>
              <a:t>/Users/uengine/uengine-platform/demo-securities/ep3-mcp-er/연동편-MCP-엔티티해소-시연-자막포함.mp4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aa9399cd2046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5e9c1134454360" /><Relationship Type="http://schemas.openxmlformats.org/officeDocument/2006/relationships/slideLayout" Target="/ppt/slideLayouts/slideLayout1.xml" Id="R0efd8ed578f845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fd8ed578f845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c0c1975d5c4a9a" /><Relationship Type="http://schemas.openxmlformats.org/officeDocument/2006/relationships/image" Target="/ppt/media/image.png" Id="R9c259c772fae4bcf" /><Relationship Type="http://schemas.openxmlformats.org/officeDocument/2006/relationships/image" Target="/ppt/media/image2.png" Id="R64cb170ee04e4ee6" /><Relationship Type="http://schemas.openxmlformats.org/officeDocument/2006/relationships/notesSlide" Target="/ppt/notesSlides/notesSlide1.xml" Id="R633eb3bd2e3449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540898c4f045ca" /><Relationship Type="http://schemas.openxmlformats.org/officeDocument/2006/relationships/image" Target="/ppt/media/image3.png" Id="R8e751285e17e4ad7" /><Relationship Type="http://schemas.openxmlformats.org/officeDocument/2006/relationships/notesSlide" Target="/ppt/notesSlides/notesSlide2.xml" Id="Re715c2464a2d41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6fd350f2f54a14" /><Relationship Type="http://schemas.openxmlformats.org/officeDocument/2006/relationships/image" Target="/ppt/media/image4.png" Id="Ra75e0c7f9485491f" /><Relationship Type="http://schemas.openxmlformats.org/officeDocument/2006/relationships/image" Target="/ppt/media/image5.png" Id="R7b916ee1818f4229" /><Relationship Type="http://schemas.openxmlformats.org/officeDocument/2006/relationships/notesSlide" Target="/ppt/notesSlides/notesSlide3.xml" Id="R1a35100a500e42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a7635889cd4e3d" /><Relationship Type="http://schemas.openxmlformats.org/officeDocument/2006/relationships/image" Target="/ppt/media/image6.png" Id="Rce96ae35774848c3" /><Relationship Type="http://schemas.openxmlformats.org/officeDocument/2006/relationships/notesSlide" Target="/ppt/notesSlides/notesSlide4.xml" Id="R9fb0c5a618ff43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1a41ef48024156" /><Relationship Type="http://schemas.openxmlformats.org/officeDocument/2006/relationships/image" Target="/ppt/media/image7.png" Id="Rfb8fae61752f45df" /><Relationship Type="http://schemas.openxmlformats.org/officeDocument/2006/relationships/notesSlide" Target="/ppt/notesSlides/notesSlide5.xml" Id="R6f15b6a5ce4e45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917e961c654c94" /><Relationship Type="http://schemas.openxmlformats.org/officeDocument/2006/relationships/image" Target="/ppt/media/image8.png" Id="R0a7d23c5bba94f01" /><Relationship Type="http://schemas.openxmlformats.org/officeDocument/2006/relationships/notesSlide" Target="/ppt/notesSlides/notesSlide6.xml" Id="R04cf1c8f24c74f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6f2353fe0944b6" /><Relationship Type="http://schemas.openxmlformats.org/officeDocument/2006/relationships/image" Target="/ppt/media/image9.png" Id="R418440e4afe64359" /><Relationship Type="http://schemas.openxmlformats.org/officeDocument/2006/relationships/image" Target="/ppt/media/image10.png" Id="Rc12321591e004532" /><Relationship Type="http://schemas.openxmlformats.org/officeDocument/2006/relationships/notesSlide" Target="/ppt/notesSlides/notesSlide7.xml" Id="Ra1cd310f232e41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9b31250829481c" /><Relationship Type="http://schemas.openxmlformats.org/officeDocument/2006/relationships/image" Target="/ppt/media/image11.png" Id="Raab7c5db5a4c4f50" /><Relationship Type="http://schemas.openxmlformats.org/officeDocument/2006/relationships/image" Target="/ppt/media/image12.png" Id="Rc4deb1e02d7a4214" /><Relationship Type="http://schemas.openxmlformats.org/officeDocument/2006/relationships/notesSlide" Target="/ppt/notesSlides/notesSlide8.xml" Id="Rf2a92151d5c54b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491da3fa85413b" /><Relationship Type="http://schemas.openxmlformats.org/officeDocument/2006/relationships/image" Target="/ppt/media/image13.png" Id="Rb4e23228e837477f" /><Relationship Type="http://schemas.openxmlformats.org/officeDocument/2006/relationships/notesSlide" Target="/ppt/notesSlides/notesSlide9.xml" Id="Rf9d37daae0824a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9498b7aa4c4ea0" /><Relationship Type="http://schemas.openxmlformats.org/officeDocument/2006/relationships/image" Target="/ppt/media/image14.png" Id="R89224a786a664eb2" /><Relationship Type="http://schemas.openxmlformats.org/officeDocument/2006/relationships/image" Target="/ppt/media/image.jpeg" Id="Rd80b635848d94847" /><Relationship Type="http://schemas.openxmlformats.org/officeDocument/2006/relationships/notesSlide" Target="/ppt/notesSlides/notesSlide10.xml" Id="R4db13e161a5c43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a3fffcef4f462a" /><Relationship Type="http://schemas.openxmlformats.org/officeDocument/2006/relationships/image" Target="/ppt/media/image15.png" Id="R2f81e3d4d8634c7a" /><Relationship Type="http://schemas.openxmlformats.org/officeDocument/2006/relationships/image" Target="/ppt/media/image16.png" Id="R0e6be21f1cfd4402" /><Relationship Type="http://schemas.openxmlformats.org/officeDocument/2006/relationships/notesSlide" Target="/ppt/notesSlides/notesSlide11.xml" Id="Rafc6744b37f940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243f56675f4b7c" /><Relationship Type="http://schemas.openxmlformats.org/officeDocument/2006/relationships/image" Target="/ppt/media/image17.png" Id="R8be799cda3fb4e5b" /><Relationship Type="http://schemas.openxmlformats.org/officeDocument/2006/relationships/notesSlide" Target="/ppt/notesSlides/notesSlide12.xml" Id="Re71286471f5c4f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a16f65bc244434a" /><Relationship Type="http://schemas.openxmlformats.org/officeDocument/2006/relationships/image" Target="/ppt/media/image18.png" Id="Rb5868f618eb54450" /><Relationship Type="http://schemas.openxmlformats.org/officeDocument/2006/relationships/notesSlide" Target="/ppt/notesSlides/notesSlide13.xml" Id="Rfaf55608ad7a45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bf353b70d94b13" /><Relationship Type="http://schemas.openxmlformats.org/officeDocument/2006/relationships/image" Target="/ppt/media/image19.png" Id="Rb32ee890c7a4413d" /><Relationship Type="http://schemas.openxmlformats.org/officeDocument/2006/relationships/image" Target="/ppt/media/image20.png" Id="R187487e3202248d6" /><Relationship Type="http://schemas.openxmlformats.org/officeDocument/2006/relationships/notesSlide" Target="/ppt/notesSlides/notesSlide14.xml" Id="R17ab6f9ddec8409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72f0ce314a0447b" /><Relationship Type="http://schemas.openxmlformats.org/officeDocument/2006/relationships/image" Target="/ppt/media/image21.png" Id="R7f0d9ca874574140" /><Relationship Type="http://schemas.openxmlformats.org/officeDocument/2006/relationships/notesSlide" Target="/ppt/notesSlides/notesSlide15.xml" Id="R1c0d83aedff34f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3f254b65d244e0d" /><Relationship Type="http://schemas.openxmlformats.org/officeDocument/2006/relationships/image" Target="/ppt/media/image22.png" Id="Recb703d2b87442e1" /><Relationship Type="http://schemas.openxmlformats.org/officeDocument/2006/relationships/notesSlide" Target="/ppt/notesSlides/notesSlide16.xml" Id="R76bbd155ae964b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ff9ce0a4e44917" /><Relationship Type="http://schemas.openxmlformats.org/officeDocument/2006/relationships/image" Target="/ppt/media/image23.png" Id="R925fca5b20314605" /><Relationship Type="http://schemas.openxmlformats.org/officeDocument/2006/relationships/notesSlide" Target="/ppt/notesSlides/notesSlide17.xml" Id="R9b03206a2dad492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fc51de50cb34075" /><Relationship Type="http://schemas.openxmlformats.org/officeDocument/2006/relationships/image" Target="/ppt/media/image24.png" Id="Rc94ebfd68fb9408d" /><Relationship Type="http://schemas.openxmlformats.org/officeDocument/2006/relationships/notesSlide" Target="/ppt/notesSlides/notesSlide18.xml" Id="R196fd1f46d4e4fe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cb74d144a3486f" /><Relationship Type="http://schemas.openxmlformats.org/officeDocument/2006/relationships/image" Target="/ppt/media/image25.png" Id="Ra6e94adc5daa450e" /><Relationship Type="http://schemas.openxmlformats.org/officeDocument/2006/relationships/notesSlide" Target="/ppt/notesSlides/notesSlide19.xml" Id="Rbb3dc9a7ec4f43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5bb54fd87e4d30" /><Relationship Type="http://schemas.openxmlformats.org/officeDocument/2006/relationships/image" Target="/ppt/media/image26.png" Id="R4da4438ddaac411b" /><Relationship Type="http://schemas.openxmlformats.org/officeDocument/2006/relationships/image" Target="/ppt/media/image27.png" Id="R72a711b34f374d20" /><Relationship Type="http://schemas.openxmlformats.org/officeDocument/2006/relationships/notesSlide" Target="/ppt/notesSlides/notesSlide20.xml" Id="R7539bb752469430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fe13503cb8a4808" /><Relationship Type="http://schemas.openxmlformats.org/officeDocument/2006/relationships/image" Target="/ppt/media/image28.png" Id="R5728c6038fd4494b" /><Relationship Type="http://schemas.openxmlformats.org/officeDocument/2006/relationships/notesSlide" Target="/ppt/notesSlides/notesSlide21.xml" Id="Reb2231f8d77043c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c371342f0354b4b" /><Relationship Type="http://schemas.openxmlformats.org/officeDocument/2006/relationships/image" Target="/ppt/media/image29.png" Id="Reeef41c7f2c84d96" /><Relationship Type="http://schemas.openxmlformats.org/officeDocument/2006/relationships/notesSlide" Target="/ppt/notesSlides/notesSlide22.xml" Id="R0a4aee74e9d7479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c259c772fae4bcf"/>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text-9bxhix-82-265">
            <a:extLst xmlns:a="http://schemas.openxmlformats.org/drawingml/2006/main">
              <a:ext uri="{FF2B5EF4-FFF2-40B4-BE49-F238E27FC236}">
                <a16:creationId xmlns:a16="http://schemas.microsoft.com/office/drawing/2014/main" id="{292E4568-9851-4039-A524-17734537527F}"/>
              </a:ext>
            </a:extLst>
          </p:cNvPr>
          <p:cNvSpPr>
            <a:spLocks xmlns:a="http://schemas.openxmlformats.org/drawingml/2006/main" noGrp="1"/>
          </p:cNvSpPr>
          <p:nvPr/>
        </p:nvSpPr>
        <p:spPr>
          <a:xfrm xmlns:a="http://schemas.openxmlformats.org/drawingml/2006/main">
            <a:off x="781050" y="2524125"/>
            <a:ext cx="809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67519E"/>
                </a:solidFill>
                <a:latin typeface="GmarketSansMedium"/>
                <a:ea typeface="GmarketSansMedium"/>
                <a:cs typeface="GmarketSansMedium"/>
              </a:defRPr>
            </a:pPr>
            <a:r>
              <a:rPr sz="2175" b="0">
                <a:solidFill>
                  <a:srgbClr val="67519E"/>
                </a:solidFill>
                <a:latin typeface="GmarketSansMedium"/>
                <a:ea typeface="GmarketSansMedium"/>
                <a:cs typeface="GmarketSansMedium"/>
              </a:rPr>
              <a:t>현대차증권 제품 소개</a:t>
            </a:r>
          </a:p>
        </p:txBody>
      </p:sp>
      <p:sp>
        <p:nvSpPr>
          <p:cNvPr id="3" name="text-9bxhix-82-339">
            <a:extLst xmlns:a="http://schemas.openxmlformats.org/drawingml/2006/main">
              <a:ext uri="{FF2B5EF4-FFF2-40B4-BE49-F238E27FC236}">
                <a16:creationId xmlns:a16="http://schemas.microsoft.com/office/drawing/2014/main" id="{003DB700-B54D-4B8F-BDC6-0D3C614BC2E7}"/>
              </a:ext>
            </a:extLst>
          </p:cNvPr>
          <p:cNvSpPr>
            <a:spLocks xmlns:a="http://schemas.openxmlformats.org/drawingml/2006/main" noGrp="1"/>
          </p:cNvSpPr>
          <p:nvPr/>
        </p:nvSpPr>
        <p:spPr>
          <a:xfrm xmlns:a="http://schemas.openxmlformats.org/drawingml/2006/main">
            <a:off x="781050" y="3228975"/>
            <a:ext cx="923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0">
                <a:solidFill>
                  <a:srgbClr val="262626"/>
                </a:solidFill>
                <a:latin typeface="GmarketSansMedium"/>
                <a:ea typeface="GmarketSansMedium"/>
                <a:cs typeface="GmarketSansMedium"/>
              </a:defRPr>
            </a:pPr>
            <a:r>
              <a:rPr sz="3900" b="0">
                <a:solidFill>
                  <a:srgbClr val="262626"/>
                </a:solidFill>
                <a:latin typeface="GmarketSansMedium"/>
                <a:ea typeface="GmarketSansMedium"/>
                <a:cs typeface="GmarketSansMedium"/>
              </a:rPr>
              <a:t>온톨로지 기반 지식 플랫폼</a:t>
            </a:r>
          </a:p>
          <a:p xmlns:a="http://schemas.openxmlformats.org/drawingml/2006/main">
            <a:pPr>
              <a:defRPr sz="3900" b="0">
                <a:solidFill>
                  <a:srgbClr val="262626"/>
                </a:solidFill>
                <a:latin typeface="GmarketSansMedium"/>
                <a:ea typeface="GmarketSansMedium"/>
                <a:cs typeface="GmarketSansMedium"/>
              </a:defRPr>
            </a:pPr>
            <a:r>
              <a:rPr sz="3900" b="0">
                <a:solidFill>
                  <a:srgbClr val="262626"/>
                </a:solidFill>
                <a:latin typeface="GmarketSansMedium"/>
                <a:ea typeface="GmarketSansMedium"/>
                <a:cs typeface="GmarketSansMedium"/>
              </a:rPr>
              <a:t>&amp; Process GPT</a:t>
            </a:r>
          </a:p>
        </p:txBody>
      </p:sp>
      <p:sp>
        <p:nvSpPr>
          <p:cNvPr id="4" name="text-9bxhix-84-561">
            <a:extLst xmlns:a="http://schemas.openxmlformats.org/drawingml/2006/main">
              <a:ext uri="{FF2B5EF4-FFF2-40B4-BE49-F238E27FC236}">
                <a16:creationId xmlns:a16="http://schemas.microsoft.com/office/drawing/2014/main" id="{22A7DE5A-E900-4720-9D1A-A234688D861C}"/>
              </a:ext>
            </a:extLst>
          </p:cNvPr>
          <p:cNvSpPr>
            <a:spLocks xmlns:a="http://schemas.openxmlformats.org/drawingml/2006/main" noGrp="1"/>
          </p:cNvSpPr>
          <p:nvPr/>
        </p:nvSpPr>
        <p:spPr>
          <a:xfrm xmlns:a="http://schemas.openxmlformats.org/drawingml/2006/main">
            <a:off x="800100" y="5343525"/>
            <a:ext cx="771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262626"/>
                </a:solidFill>
                <a:latin typeface="Freesentation-4Regular"/>
                <a:ea typeface="Freesentation-4Regular"/>
                <a:cs typeface="Freesentation-4Regular"/>
              </a:defRPr>
            </a:pPr>
            <a:r>
              <a:rPr sz="2325" b="0">
                <a:solidFill>
                  <a:srgbClr val="262626"/>
                </a:solidFill>
                <a:latin typeface="Freesentation-4Regular"/>
                <a:ea typeface="Freesentation-4Regular"/>
                <a:cs typeface="Freesentation-4Regular"/>
              </a:rPr>
              <a:t>온톨로지 구축 경험과 AI 업무 자동화</a:t>
            </a:r>
          </a:p>
        </p:txBody>
      </p:sp>
      <p:sp>
        <p:nvSpPr>
          <p:cNvPr id="5" name="text-9bxhix-84-634">
            <a:extLst xmlns:a="http://schemas.openxmlformats.org/drawingml/2006/main">
              <a:ext uri="{FF2B5EF4-FFF2-40B4-BE49-F238E27FC236}">
                <a16:creationId xmlns:a16="http://schemas.microsoft.com/office/drawing/2014/main" id="{56EB3CDD-E7D9-4566-924F-3A25E77BF6E4}"/>
              </a:ext>
            </a:extLst>
          </p:cNvPr>
          <p:cNvSpPr>
            <a:spLocks xmlns:a="http://schemas.openxmlformats.org/drawingml/2006/main" noGrp="1"/>
          </p:cNvSpPr>
          <p:nvPr/>
        </p:nvSpPr>
        <p:spPr>
          <a:xfrm xmlns:a="http://schemas.openxmlformats.org/drawingml/2006/main">
            <a:off x="800100" y="6038850"/>
            <a:ext cx="704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686868"/>
                </a:solidFill>
                <a:latin typeface="Freesentation-4Regular"/>
                <a:ea typeface="Freesentation-4Regular"/>
                <a:cs typeface="Freesentation-4Regular"/>
              </a:defRPr>
            </a:pPr>
            <a:r>
              <a:rPr sz="1950" b="0">
                <a:solidFill>
                  <a:srgbClr val="686868"/>
                </a:solidFill>
                <a:latin typeface="Freesentation-4Regular"/>
                <a:ea typeface="Freesentation-4Regular"/>
                <a:cs typeface="Freesentation-4Regular"/>
              </a:rPr>
              <a:t>Ontologic Platform · Ontology Studio</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4cb170ee04e4ee6"/>
          <a:stretch xmlns:a="http://schemas.openxmlformats.org/drawingml/2006/main"/>
        </p:blipFill>
        <p:spPr>
          <a:xfrm xmlns:a="http://schemas.openxmlformats.org/drawingml/2006/main">
            <a:off x="762000" y="7630842"/>
            <a:ext cx="2095500" cy="435516"/>
          </a:xfrm>
          <a:prstGeom xmlns:a="http://schemas.openxmlformats.org/drawingml/2006/main" prst="rect">
            <a:avLst/>
          </a:prstGeom>
        </p:spPr>
      </p:pic>
      <p:sp>
        <p:nvSpPr>
          <p:cNvPr id="7" name="text-9bxhix-340-805">
            <a:extLst xmlns:a="http://schemas.openxmlformats.org/drawingml/2006/main">
              <a:ext uri="{FF2B5EF4-FFF2-40B4-BE49-F238E27FC236}">
                <a16:creationId xmlns:a16="http://schemas.microsoft.com/office/drawing/2014/main" id="{E992D765-6DBD-47AA-9FB9-F861F9F2CE33}"/>
              </a:ext>
            </a:extLst>
          </p:cNvPr>
          <p:cNvSpPr>
            <a:spLocks xmlns:a="http://schemas.openxmlformats.org/drawingml/2006/main" noGrp="1"/>
          </p:cNvSpPr>
          <p:nvPr/>
        </p:nvSpPr>
        <p:spPr>
          <a:xfrm xmlns:a="http://schemas.openxmlformats.org/drawingml/2006/main">
            <a:off x="3238500" y="76676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86868"/>
                </a:solidFill>
                <a:latin typeface="Freesentation-4Regular"/>
                <a:ea typeface="Freesentation-4Regular"/>
                <a:cs typeface="Freesentation-4Regular"/>
              </a:defRPr>
            </a:pPr>
            <a:r>
              <a:rPr sz="1725" b="0">
                <a:solidFill>
                  <a:srgbClr val="686868"/>
                </a:solidFill>
                <a:latin typeface="Freesentation-4Regular"/>
                <a:ea typeface="Freesentation-4Regular"/>
                <a:cs typeface="Freesentation-4Regular"/>
              </a:rPr>
              <a:t>유엔진솔루션즈  /  2026.10</a:t>
            </a:r>
          </a:p>
        </p:txBody>
      </p:sp>
    </p:spTree>
    <p:extLst>
      <p:ext uri="{BB962C8B-B14F-4D97-AF65-F5344CB8AC3E}">
        <p14:creationId xmlns:p14="http://schemas.microsoft.com/office/powerpoint/2010/main" val="20077447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F6FB6D-1565-4A6F-8023-59E2E0470711}"/>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oacaiv-74-44">
            <a:extLst xmlns:a="http://schemas.openxmlformats.org/drawingml/2006/main">
              <a:ext uri="{FF2B5EF4-FFF2-40B4-BE49-F238E27FC236}">
                <a16:creationId xmlns:a16="http://schemas.microsoft.com/office/drawing/2014/main" id="{0099D0B3-6195-4470-928E-92CFDED1EA71}"/>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온톨로지와 복합지식 기술의 적용 연혁</a:t>
            </a:r>
          </a:p>
        </p:txBody>
      </p:sp>
      <p:sp>
        <p:nvSpPr>
          <p:cNvPr id="3" name="text-oacaiv-74-131">
            <a:extLst xmlns:a="http://schemas.openxmlformats.org/drawingml/2006/main">
              <a:ext uri="{FF2B5EF4-FFF2-40B4-BE49-F238E27FC236}">
                <a16:creationId xmlns:a16="http://schemas.microsoft.com/office/drawing/2014/main" id="{1D0672D6-D6A8-43A1-BEE5-BD0014333C49}"/>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2003년 오픈소스 BPM에서 출발한 유엔진솔루션즈 / 2007년 법인 설립</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e751285e17e4ad7"/>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oacaiv-80-841">
            <a:extLst xmlns:a="http://schemas.openxmlformats.org/drawingml/2006/main">
              <a:ext uri="{FF2B5EF4-FFF2-40B4-BE49-F238E27FC236}">
                <a16:creationId xmlns:a16="http://schemas.microsoft.com/office/drawing/2014/main" id="{4AB8D8E8-9FEB-4365-A023-2705E86C1B50}"/>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01 회사와 제품</a:t>
            </a:r>
          </a:p>
        </p:txBody>
      </p:sp>
      <p:sp>
        <p:nvSpPr>
          <p:cNvPr id="6" name="text-oacaiv-1470-839">
            <a:extLst xmlns:a="http://schemas.openxmlformats.org/drawingml/2006/main">
              <a:ext uri="{FF2B5EF4-FFF2-40B4-BE49-F238E27FC236}">
                <a16:creationId xmlns:a16="http://schemas.microsoft.com/office/drawing/2014/main" id="{C8973660-F0E5-40D4-BAE1-723F782626D7}"/>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02</a:t>
            </a:r>
          </a:p>
        </p:txBody>
      </p:sp>
      <p:graphicFrame>
        <p:nvGraphicFramePr>
          <p:cNvPr id="15" name=""/>
          <p:cNvGraphicFramePr/>
          <p:nvPr/>
        </p:nvGraphicFramePr>
        <p:xfrm>
          <a:off xmlns:a="http://schemas.openxmlformats.org/drawingml/2006/main" x="762000" y="2114550"/>
          <a:ext xmlns:a="http://schemas.openxmlformats.org/drawingml/2006/main" cx="13716000" cy="4695825"/>
        </p:xfrm>
        <a:graphic xmlns:a="http://schemas.openxmlformats.org/drawingml/2006/main">
          <a:graphicData uri="http://schemas.openxmlformats.org/drawingml/2006/table">
            <a:tbl>
              <a:tblPr/>
              <a:tblGrid>
                <a:gridCol w="2143125"/>
                <a:gridCol w="6238875"/>
                <a:gridCol w="5334000"/>
              </a:tblGrid>
              <a:tr h="609600">
                <a:tc>
                  <a:txBody>
                    <a:bodyPr/>
                    <a:lstStyle/>
                    <a:p>
                      <a:r>
                        <a:rPr sz="1800" b="1">
                          <a:solidFill>
                            <a:srgbClr val="FFFFFF"/>
                          </a:solidFill>
                          <a:latin typeface="Freesentation-4Regular"/>
                          <a:ea typeface="Freesentation-4Regular"/>
                          <a:cs typeface="Freesentation-4Regular"/>
                        </a:rPr>
                        <a:t>시기</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주요 이력</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축적한 경험</a:t>
                      </a:r>
                    </a:p>
                  </a:txBody>
                  <a:tcPr marL="91440" marR="91440" marT="45720" marB="45720">
                    <a:solidFill>
                      <a:srgbClr val="67519E"/>
                    </a:solidFill>
                  </a:tcPr>
                </a:tc>
              </a:tr>
              <a:tr h="1021556">
                <a:tc>
                  <a:txBody>
                    <a:bodyPr/>
                    <a:lstStyle/>
                    <a:p>
                      <a:r>
                        <a:rPr sz="2025" b="1">
                          <a:solidFill>
                            <a:srgbClr val="67519E"/>
                          </a:solidFill>
                          <a:latin typeface="Freesentation-4Regular"/>
                          <a:ea typeface="Freesentation-4Regular"/>
                          <a:cs typeface="Freesentation-4Regular"/>
                        </a:rPr>
                        <a:t>2007</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EHR사업단 고혈압 CDSS 구현</a:t>
                      </a:r>
                    </a:p>
                    <a:p>
                      <a:r>
                        <a:rPr sz="2025" b="0">
                          <a:solidFill>
                            <a:srgbClr val="262626"/>
                          </a:solidFill>
                          <a:latin typeface="Freesentation-4Regular"/>
                          <a:ea typeface="Freesentation-4Regular"/>
                          <a:cs typeface="Freesentation-4Regular"/>
                        </a:rPr>
                        <a:t>Protégé 기반 온톨로지 구축</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EHR 스키마 매핑·데이터 연계</a:t>
                      </a:r>
                    </a:p>
                    <a:p>
                      <a:r>
                        <a:rPr sz="2025" b="0">
                          <a:solidFill>
                            <a:srgbClr val="262626"/>
                          </a:solidFill>
                          <a:latin typeface="Freesentation-4Regular"/>
                          <a:ea typeface="Freesentation-4Regular"/>
                          <a:cs typeface="Freesentation-4Regular"/>
                        </a:rPr>
                        <a:t>온톨로지·규칙·프로세스 결합</a:t>
                      </a:r>
                    </a:p>
                  </a:txBody>
                  <a:tcPr marL="91440" marR="91440" marT="45720" marB="45720">
                    <a:solidFill>
                      <a:srgbClr val="FFFFFF"/>
                    </a:solidFill>
                  </a:tcPr>
                </a:tc>
              </a:tr>
              <a:tr h="1021556">
                <a:tc>
                  <a:txBody>
                    <a:bodyPr/>
                    <a:lstStyle/>
                    <a:p>
                      <a:r>
                        <a:rPr sz="2025" b="1">
                          <a:solidFill>
                            <a:srgbClr val="67519E"/>
                          </a:solidFill>
                          <a:latin typeface="Freesentation-4Regular"/>
                          <a:ea typeface="Freesentation-4Regular"/>
                          <a:cs typeface="Freesentation-4Regular"/>
                        </a:rPr>
                        <a:t>2012.10–</a:t>
                      </a:r>
                    </a:p>
                    <a:p>
                      <a:r>
                        <a:rPr sz="2025" b="1">
                          <a:solidFill>
                            <a:srgbClr val="67519E"/>
                          </a:solidFill>
                          <a:latin typeface="Freesentation-4Regular"/>
                          <a:ea typeface="Freesentation-4Regular"/>
                          <a:cs typeface="Freesentation-4Regular"/>
                        </a:rPr>
                        <a:t>2013.09</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복합지식 기반의 이러닝</a:t>
                      </a:r>
                    </a:p>
                    <a:p>
                      <a:r>
                        <a:rPr sz="2025" b="0">
                          <a:solidFill>
                            <a:srgbClr val="262626"/>
                          </a:solidFill>
                          <a:latin typeface="Freesentation-4Regular"/>
                          <a:ea typeface="Freesentation-4Regular"/>
                          <a:cs typeface="Freesentation-4Regular"/>
                        </a:rPr>
                        <a:t>오픈 프레임워크 개발</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온톨로지 기반 복합지식 과제</a:t>
                      </a:r>
                    </a:p>
                    <a:p>
                      <a:r>
                        <a:rPr sz="2025" b="0">
                          <a:solidFill>
                            <a:srgbClr val="262626"/>
                          </a:solidFill>
                          <a:latin typeface="Freesentation-4Regular"/>
                          <a:ea typeface="Freesentation-4Regular"/>
                          <a:cs typeface="Freesentation-4Regular"/>
                        </a:rPr>
                        <a:t>장진영 대표 참여연구원</a:t>
                      </a:r>
                    </a:p>
                  </a:txBody>
                  <a:tcPr marL="91440" marR="91440" marT="45720" marB="45720">
                    <a:solidFill>
                      <a:srgbClr val="F6F8F9"/>
                    </a:solidFill>
                  </a:tcPr>
                </a:tc>
              </a:tr>
              <a:tr h="1021556">
                <a:tc>
                  <a:txBody>
                    <a:bodyPr/>
                    <a:lstStyle/>
                    <a:p>
                      <a:r>
                        <a:rPr sz="2025" b="1">
                          <a:solidFill>
                            <a:srgbClr val="67519E"/>
                          </a:solidFill>
                          <a:latin typeface="Freesentation-4Regular"/>
                          <a:ea typeface="Freesentation-4Regular"/>
                          <a:cs typeface="Freesentation-4Regular"/>
                        </a:rPr>
                        <a:t>2026</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SKT OSS 프로세스 자산화</a:t>
                      </a:r>
                    </a:p>
                    <a:p>
                      <a:r>
                        <a:rPr sz="2025" b="0">
                          <a:solidFill>
                            <a:srgbClr val="262626"/>
                          </a:solidFill>
                          <a:latin typeface="Freesentation-4Regular"/>
                          <a:ea typeface="Freesentation-4Regular"/>
                          <a:cs typeface="Freesentation-4Regular"/>
                        </a:rPr>
                        <a:t>수자원 온톨로지 시범구축</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도메인 의미 모델과</a:t>
                      </a:r>
                    </a:p>
                    <a:p>
                      <a:r>
                        <a:rPr sz="2025" b="0">
                          <a:solidFill>
                            <a:srgbClr val="262626"/>
                          </a:solidFill>
                          <a:latin typeface="Freesentation-4Regular"/>
                          <a:ea typeface="Freesentation-4Regular"/>
                          <a:cs typeface="Freesentation-4Regular"/>
                        </a:rPr>
                        <a:t>데이터·업무 실행의 연결</a:t>
                      </a:r>
                    </a:p>
                  </a:txBody>
                  <a:tcPr marL="91440" marR="91440" marT="45720" marB="45720">
                    <a:solidFill>
                      <a:srgbClr val="FFFFFF"/>
                    </a:solidFill>
                  </a:tcPr>
                </a:tc>
              </a:tr>
              <a:tr h="1021556">
                <a:tc>
                  <a:txBody>
                    <a:bodyPr/>
                    <a:lstStyle/>
                    <a:p>
                      <a:r>
                        <a:rPr sz="2025" b="1">
                          <a:solidFill>
                            <a:srgbClr val="67519E"/>
                          </a:solidFill>
                          <a:latin typeface="Freesentation-4Regular"/>
                          <a:ea typeface="Freesentation-4Regular"/>
                          <a:cs typeface="Freesentation-4Regular"/>
                        </a:rPr>
                        <a:t>현재</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Ontology Studio / Ontologic Platform</a:t>
                      </a:r>
                    </a:p>
                    <a:p>
                      <a:r>
                        <a:rPr sz="2025" b="0">
                          <a:solidFill>
                            <a:srgbClr val="262626"/>
                          </a:solidFill>
                          <a:latin typeface="Freesentation-4Regular"/>
                          <a:ea typeface="Freesentation-4Regular"/>
                          <a:cs typeface="Freesentation-4Regular"/>
                        </a:rPr>
                        <a:t>Process GPT</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문서·DB 의미 통합과</a:t>
                      </a:r>
                    </a:p>
                    <a:p>
                      <a:r>
                        <a:rPr sz="2025" b="0">
                          <a:solidFill>
                            <a:srgbClr val="262626"/>
                          </a:solidFill>
                          <a:latin typeface="Freesentation-4Regular"/>
                          <a:ea typeface="Freesentation-4Regular"/>
                          <a:cs typeface="Freesentation-4Regular"/>
                        </a:rPr>
                        <a:t>AI 에이전트의 근거 활용</a:t>
                      </a:r>
                    </a:p>
                  </a:txBody>
                  <a:tcPr marL="91440" marR="91440" marT="45720" marB="45720">
                    <a:solidFill>
                      <a:srgbClr val="F6F8F9"/>
                    </a:solidFill>
                  </a:tcPr>
                </a:tc>
              </a:tr>
            </a:tbl>
          </a:graphicData>
        </a:graphic>
      </p:graphicFrame>
      <p:sp>
        <p:nvSpPr>
          <p:cNvPr id="8" name="text-oacaiv-80-713">
            <a:extLst xmlns:a="http://schemas.openxmlformats.org/drawingml/2006/main">
              <a:ext uri="{FF2B5EF4-FFF2-40B4-BE49-F238E27FC236}">
                <a16:creationId xmlns:a16="http://schemas.microsoft.com/office/drawing/2014/main" id="{3397FED6-68CE-4D62-97AD-094FA985C106}"/>
              </a:ext>
            </a:extLst>
          </p:cNvPr>
          <p:cNvSpPr>
            <a:spLocks xmlns:a="http://schemas.openxmlformats.org/drawingml/2006/main" noGrp="1"/>
          </p:cNvSpPr>
          <p:nvPr/>
        </p:nvSpPr>
        <p:spPr>
          <a:xfrm xmlns:a="http://schemas.openxmlformats.org/drawingml/2006/main">
            <a:off x="762000" y="6791325"/>
            <a:ext cx="1362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67519E"/>
                </a:solidFill>
                <a:latin typeface="Freesentation-4Regular"/>
                <a:ea typeface="Freesentation-4Regular"/>
                <a:cs typeface="Freesentation-4Regular"/>
              </a:defRPr>
            </a:pPr>
            <a:r>
              <a:rPr sz="1950" b="1">
                <a:solidFill>
                  <a:srgbClr val="67519E"/>
                </a:solidFill>
                <a:latin typeface="Freesentation-4Regular"/>
                <a:ea typeface="Freesentation-4Regular"/>
                <a:cs typeface="Freesentation-4Regular"/>
              </a:rPr>
              <a:t>초기 의료·이러닝 과제에서 다룬 의미 모델과 원천 연계 문제를 현재 제품으로 확장</a:t>
            </a:r>
          </a:p>
        </p:txBody>
      </p:sp>
    </p:spTree>
    <p:extLst>
      <p:ext uri="{BB962C8B-B14F-4D97-AF65-F5344CB8AC3E}">
        <p14:creationId xmlns:p14="http://schemas.microsoft.com/office/powerpoint/2010/main" val="11259287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5C637CD-D428-4E3A-A92E-9E504BA5EB1E}"/>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o0qoi5-74-44">
            <a:extLst xmlns:a="http://schemas.openxmlformats.org/drawingml/2006/main">
              <a:ext uri="{FF2B5EF4-FFF2-40B4-BE49-F238E27FC236}">
                <a16:creationId xmlns:a16="http://schemas.microsoft.com/office/drawing/2014/main" id="{2CE22FDD-3C1F-4D53-9DF6-289B42C5148E}"/>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CDSS: 온톨로지·EHR 데이터·진료 흐름의 결합</a:t>
            </a:r>
          </a:p>
        </p:txBody>
      </p:sp>
      <p:sp>
        <p:nvSpPr>
          <p:cNvPr id="3" name="text-o0qoi5-74-131">
            <a:extLst xmlns:a="http://schemas.openxmlformats.org/drawingml/2006/main">
              <a:ext uri="{FF2B5EF4-FFF2-40B4-BE49-F238E27FC236}">
                <a16:creationId xmlns:a16="http://schemas.microsoft.com/office/drawing/2014/main" id="{668E5D1F-4BEF-44A4-8449-9BBDC54FA3E7}"/>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2007년 고혈압 CDSS 구현 경험</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75e0c7f9485491f"/>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o0qoi5-80-841">
            <a:extLst xmlns:a="http://schemas.openxmlformats.org/drawingml/2006/main">
              <a:ext uri="{FF2B5EF4-FFF2-40B4-BE49-F238E27FC236}">
                <a16:creationId xmlns:a16="http://schemas.microsoft.com/office/drawing/2014/main" id="{35AFA652-7895-4BC8-9611-226B3C562C20}"/>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01 회사와 제품</a:t>
            </a:r>
          </a:p>
        </p:txBody>
      </p:sp>
      <p:sp>
        <p:nvSpPr>
          <p:cNvPr id="6" name="text-o0qoi5-1470-839">
            <a:extLst xmlns:a="http://schemas.openxmlformats.org/drawingml/2006/main">
              <a:ext uri="{FF2B5EF4-FFF2-40B4-BE49-F238E27FC236}">
                <a16:creationId xmlns:a16="http://schemas.microsoft.com/office/drawing/2014/main" id="{2ACAABF4-ADA7-45EA-9549-1D97C3D75DBF}"/>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03</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b916ee1818f4229"/>
          <a:stretch xmlns:a="http://schemas.openxmlformats.org/drawingml/2006/main"/>
        </p:blipFill>
        <p:spPr>
          <a:xfrm xmlns:a="http://schemas.openxmlformats.org/drawingml/2006/main">
            <a:off x="1968500" y="2143125"/>
            <a:ext cx="6350000" cy="4762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D82BC6F-D717-43F3-A092-F97B2B26606A}"/>
              </a:ext>
            </a:extLst>
          </p:cNvPr>
          <p:cNvSpPr>
            <a:spLocks xmlns:a="http://schemas.openxmlformats.org/drawingml/2006/main" noGrp="1"/>
          </p:cNvSpPr>
          <p:nvPr/>
        </p:nvSpPr>
        <p:spPr>
          <a:xfrm xmlns:a="http://schemas.openxmlformats.org/drawingml/2006/main">
            <a:off x="10096500" y="2057400"/>
            <a:ext cx="4333875"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9" name="text-o0qoi5-1075-225">
            <a:extLst xmlns:a="http://schemas.openxmlformats.org/drawingml/2006/main">
              <a:ext uri="{FF2B5EF4-FFF2-40B4-BE49-F238E27FC236}">
                <a16:creationId xmlns:a16="http://schemas.microsoft.com/office/drawing/2014/main" id="{2327131E-085C-4064-BDCA-724B4CCD62EE}"/>
              </a:ext>
            </a:extLst>
          </p:cNvPr>
          <p:cNvSpPr>
            <a:spLocks xmlns:a="http://schemas.openxmlformats.org/drawingml/2006/main" noGrp="1"/>
          </p:cNvSpPr>
          <p:nvPr/>
        </p:nvSpPr>
        <p:spPr>
          <a:xfrm xmlns:a="http://schemas.openxmlformats.org/drawingml/2006/main">
            <a:off x="10239375" y="2143125"/>
            <a:ext cx="4048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온톨로지 모델링</a:t>
            </a:r>
          </a:p>
        </p:txBody>
      </p:sp>
      <p:sp>
        <p:nvSpPr>
          <p:cNvPr id="10" name="text-o0qoi5-1075-276">
            <a:extLst xmlns:a="http://schemas.openxmlformats.org/drawingml/2006/main">
              <a:ext uri="{FF2B5EF4-FFF2-40B4-BE49-F238E27FC236}">
                <a16:creationId xmlns:a16="http://schemas.microsoft.com/office/drawing/2014/main" id="{84DB5136-63EF-411D-95E9-9F0D6F132F41}"/>
              </a:ext>
            </a:extLst>
          </p:cNvPr>
          <p:cNvSpPr>
            <a:spLocks xmlns:a="http://schemas.openxmlformats.org/drawingml/2006/main" noGrp="1"/>
          </p:cNvSpPr>
          <p:nvPr/>
        </p:nvSpPr>
        <p:spPr>
          <a:xfrm xmlns:a="http://schemas.openxmlformats.org/drawingml/2006/main">
            <a:off x="10239375" y="2628900"/>
            <a:ext cx="4048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Protégé로 CDSS 온톨로지 구축</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임상 개념과 판단에 필요한 지식 정의</a:t>
            </a:r>
          </a:p>
        </p:txBody>
      </p:sp>
      <p:sp>
        <p:nvSpPr>
          <p:cNvPr id="11" name="">
            <a:extLst xmlns:a="http://schemas.openxmlformats.org/drawingml/2006/main">
              <a:ext uri="{FF2B5EF4-FFF2-40B4-BE49-F238E27FC236}">
                <a16:creationId xmlns:a16="http://schemas.microsoft.com/office/drawing/2014/main" id="{D852D8A3-046F-4743-B158-13EA0BDD8B73}"/>
              </a:ext>
            </a:extLst>
          </p:cNvPr>
          <p:cNvSpPr>
            <a:spLocks xmlns:a="http://schemas.openxmlformats.org/drawingml/2006/main" noGrp="1"/>
          </p:cNvSpPr>
          <p:nvPr/>
        </p:nvSpPr>
        <p:spPr>
          <a:xfrm xmlns:a="http://schemas.openxmlformats.org/drawingml/2006/main">
            <a:off x="10096500" y="3810000"/>
            <a:ext cx="4333875"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2" name="text-o0qoi5-1075-409">
            <a:extLst xmlns:a="http://schemas.openxmlformats.org/drawingml/2006/main">
              <a:ext uri="{FF2B5EF4-FFF2-40B4-BE49-F238E27FC236}">
                <a16:creationId xmlns:a16="http://schemas.microsoft.com/office/drawing/2014/main" id="{367C367B-0148-4173-82AA-7BB55C584CFC}"/>
              </a:ext>
            </a:extLst>
          </p:cNvPr>
          <p:cNvSpPr>
            <a:spLocks xmlns:a="http://schemas.openxmlformats.org/drawingml/2006/main" noGrp="1"/>
          </p:cNvSpPr>
          <p:nvPr/>
        </p:nvSpPr>
        <p:spPr>
          <a:xfrm xmlns:a="http://schemas.openxmlformats.org/drawingml/2006/main">
            <a:off x="10239375" y="3895725"/>
            <a:ext cx="4048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원천 시스템 연결</a:t>
            </a:r>
          </a:p>
        </p:txBody>
      </p:sp>
      <p:sp>
        <p:nvSpPr>
          <p:cNvPr id="13" name="text-o0qoi5-1075-460">
            <a:extLst xmlns:a="http://schemas.openxmlformats.org/drawingml/2006/main">
              <a:ext uri="{FF2B5EF4-FFF2-40B4-BE49-F238E27FC236}">
                <a16:creationId xmlns:a16="http://schemas.microsoft.com/office/drawing/2014/main" id="{4AFFC2A3-755C-4336-86AD-C902C6BE6723}"/>
              </a:ext>
            </a:extLst>
          </p:cNvPr>
          <p:cNvSpPr>
            <a:spLocks xmlns:a="http://schemas.openxmlformats.org/drawingml/2006/main" noGrp="1"/>
          </p:cNvSpPr>
          <p:nvPr/>
        </p:nvSpPr>
        <p:spPr>
          <a:xfrm xmlns:a="http://schemas.openxmlformats.org/drawingml/2006/main">
            <a:off x="10239375" y="4381500"/>
            <a:ext cx="4048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EHR 연동을 위한 스키마 매퍼</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현재 데이터 패브릭과 유사한 접근</a:t>
            </a:r>
          </a:p>
        </p:txBody>
      </p:sp>
      <p:sp>
        <p:nvSpPr>
          <p:cNvPr id="14" name="">
            <a:extLst xmlns:a="http://schemas.openxmlformats.org/drawingml/2006/main">
              <a:ext uri="{FF2B5EF4-FFF2-40B4-BE49-F238E27FC236}">
                <a16:creationId xmlns:a16="http://schemas.microsoft.com/office/drawing/2014/main" id="{065CC42E-0B97-4D11-BB38-CFFFA359C051}"/>
              </a:ext>
            </a:extLst>
          </p:cNvPr>
          <p:cNvSpPr>
            <a:spLocks xmlns:a="http://schemas.openxmlformats.org/drawingml/2006/main" noGrp="1"/>
          </p:cNvSpPr>
          <p:nvPr/>
        </p:nvSpPr>
        <p:spPr>
          <a:xfrm xmlns:a="http://schemas.openxmlformats.org/drawingml/2006/main">
            <a:off x="10096500" y="5562600"/>
            <a:ext cx="4333875"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5" name="text-o0qoi5-1075-593">
            <a:extLst xmlns:a="http://schemas.openxmlformats.org/drawingml/2006/main">
              <a:ext uri="{FF2B5EF4-FFF2-40B4-BE49-F238E27FC236}">
                <a16:creationId xmlns:a16="http://schemas.microsoft.com/office/drawing/2014/main" id="{C3924CE6-C728-4F5E-8649-CFAE751F6DAB}"/>
              </a:ext>
            </a:extLst>
          </p:cNvPr>
          <p:cNvSpPr>
            <a:spLocks xmlns:a="http://schemas.openxmlformats.org/drawingml/2006/main" noGrp="1"/>
          </p:cNvSpPr>
          <p:nvPr/>
        </p:nvSpPr>
        <p:spPr>
          <a:xfrm xmlns:a="http://schemas.openxmlformats.org/drawingml/2006/main">
            <a:off x="10239375" y="5648325"/>
            <a:ext cx="4048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규칙과 업무 실행</a:t>
            </a:r>
          </a:p>
        </p:txBody>
      </p:sp>
      <p:sp>
        <p:nvSpPr>
          <p:cNvPr id="16" name="text-o0qoi5-1075-644">
            <a:extLst xmlns:a="http://schemas.openxmlformats.org/drawingml/2006/main">
              <a:ext uri="{FF2B5EF4-FFF2-40B4-BE49-F238E27FC236}">
                <a16:creationId xmlns:a16="http://schemas.microsoft.com/office/drawing/2014/main" id="{D7A4DBAF-5519-4886-B554-61EA6366685D}"/>
              </a:ext>
            </a:extLst>
          </p:cNvPr>
          <p:cNvSpPr>
            <a:spLocks xmlns:a="http://schemas.openxmlformats.org/drawingml/2006/main" noGrp="1"/>
          </p:cNvSpPr>
          <p:nvPr/>
        </p:nvSpPr>
        <p:spPr>
          <a:xfrm xmlns:a="http://schemas.openxmlformats.org/drawingml/2006/main">
            <a:off x="10239375" y="6134100"/>
            <a:ext cx="4048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BRE 가이드라인을 BPM에 연결</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의사·간호사의 역할과 확인 절차</a:t>
            </a:r>
          </a:p>
        </p:txBody>
      </p:sp>
    </p:spTree>
    <p:extLst>
      <p:ext uri="{BB962C8B-B14F-4D97-AF65-F5344CB8AC3E}">
        <p14:creationId xmlns:p14="http://schemas.microsoft.com/office/powerpoint/2010/main" val="19027078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501EDF-9BEC-47EE-800A-498CE222171D}"/>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ulm0vl-74-44">
            <a:extLst xmlns:a="http://schemas.openxmlformats.org/drawingml/2006/main">
              <a:ext uri="{FF2B5EF4-FFF2-40B4-BE49-F238E27FC236}">
                <a16:creationId xmlns:a16="http://schemas.microsoft.com/office/drawing/2014/main" id="{C86BECE2-7B31-4933-A65F-E32F6CD15146}"/>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AI-native Enterprise Stack</a:t>
            </a:r>
          </a:p>
        </p:txBody>
      </p:sp>
      <p:sp>
        <p:nvSpPr>
          <p:cNvPr id="3" name="text-ulm0vl-74-131">
            <a:extLst xmlns:a="http://schemas.openxmlformats.org/drawingml/2006/main">
              <a:ext uri="{FF2B5EF4-FFF2-40B4-BE49-F238E27FC236}">
                <a16:creationId xmlns:a16="http://schemas.microsoft.com/office/drawing/2014/main" id="{E33BA812-48CB-48AA-8FBB-42E6E8E320F9}"/>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업무 실행, 에이전트, 지식, 원천데이터의 네 계층</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e96ae35774848c3"/>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ulm0vl-80-841">
            <a:extLst xmlns:a="http://schemas.openxmlformats.org/drawingml/2006/main">
              <a:ext uri="{FF2B5EF4-FFF2-40B4-BE49-F238E27FC236}">
                <a16:creationId xmlns:a16="http://schemas.microsoft.com/office/drawing/2014/main" id="{272F4512-AEFA-4D38-B3E2-D8700D22F742}"/>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01 회사와 제품</a:t>
            </a:r>
          </a:p>
        </p:txBody>
      </p:sp>
      <p:sp>
        <p:nvSpPr>
          <p:cNvPr id="6" name="text-ulm0vl-1470-839">
            <a:extLst xmlns:a="http://schemas.openxmlformats.org/drawingml/2006/main">
              <a:ext uri="{FF2B5EF4-FFF2-40B4-BE49-F238E27FC236}">
                <a16:creationId xmlns:a16="http://schemas.microsoft.com/office/drawing/2014/main" id="{CBB87156-8EA4-4E15-84C8-3D48E7D250AE}"/>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04</a:t>
            </a:r>
          </a:p>
        </p:txBody>
      </p:sp>
      <p:graphicFrame>
        <p:nvGraphicFramePr>
          <p:cNvPr id="15" name=""/>
          <p:cNvGraphicFramePr/>
          <p:nvPr/>
        </p:nvGraphicFramePr>
        <p:xfrm>
          <a:off xmlns:a="http://schemas.openxmlformats.org/drawingml/2006/main" x="762000" y="2190750"/>
          <a:ext xmlns:a="http://schemas.openxmlformats.org/drawingml/2006/main" cx="13716000" cy="4191000"/>
        </p:xfrm>
        <a:graphic xmlns:a="http://schemas.openxmlformats.org/drawingml/2006/main">
          <a:graphicData uri="http://schemas.openxmlformats.org/drawingml/2006/table">
            <a:tbl>
              <a:tblPr/>
              <a:tblGrid>
                <a:gridCol w="3238500"/>
                <a:gridCol w="5429250"/>
                <a:gridCol w="5048250"/>
              </a:tblGrid>
              <a:tr h="609600">
                <a:tc>
                  <a:txBody>
                    <a:bodyPr/>
                    <a:lstStyle/>
                    <a:p>
                      <a:r>
                        <a:rPr sz="1800" b="1">
                          <a:solidFill>
                            <a:srgbClr val="FFFFFF"/>
                          </a:solidFill>
                          <a:latin typeface="Freesentation-4Regular"/>
                          <a:ea typeface="Freesentation-4Regular"/>
                          <a:cs typeface="Freesentation-4Regular"/>
                        </a:rPr>
                        <a:t>계층</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역할</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주요 제품</a:t>
                      </a:r>
                    </a:p>
                  </a:txBody>
                  <a:tcPr marL="91440" marR="91440" marT="45720" marB="45720">
                    <a:solidFill>
                      <a:srgbClr val="67519E"/>
                    </a:solidFill>
                  </a:tcPr>
                </a:tc>
              </a:tr>
              <a:tr h="895350">
                <a:tc>
                  <a:txBody>
                    <a:bodyPr/>
                    <a:lstStyle/>
                    <a:p>
                      <a:r>
                        <a:rPr sz="2025" b="1">
                          <a:solidFill>
                            <a:srgbClr val="67519E"/>
                          </a:solidFill>
                          <a:latin typeface="Freesentation-4Regular"/>
                          <a:ea typeface="Freesentation-4Regular"/>
                          <a:cs typeface="Freesentation-4Regular"/>
                        </a:rPr>
                        <a:t>L1  Orchestration</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사람과 AI의 업무 순서·승인·상태 관리</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Process GPT / uEngine6 BPM</a:t>
                      </a:r>
                    </a:p>
                  </a:txBody>
                  <a:tcPr marL="91440" marR="91440" marT="45720" marB="45720">
                    <a:solidFill>
                      <a:srgbClr val="FFFFFF"/>
                    </a:solidFill>
                  </a:tcPr>
                </a:tc>
              </a:tr>
              <a:tr h="895350">
                <a:tc>
                  <a:txBody>
                    <a:bodyPr/>
                    <a:lstStyle/>
                    <a:p>
                      <a:r>
                        <a:rPr sz="2025" b="1">
                          <a:solidFill>
                            <a:srgbClr val="67519E"/>
                          </a:solidFill>
                          <a:latin typeface="Freesentation-4Regular"/>
                          <a:ea typeface="Freesentation-4Regular"/>
                          <a:cs typeface="Freesentation-4Regular"/>
                        </a:rPr>
                        <a:t>L2  Agents</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지식을 조회하고 도구를 호출해 업무 수행</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Process GPT / Robo Architect</a:t>
                      </a:r>
                    </a:p>
                  </a:txBody>
                  <a:tcPr marL="91440" marR="91440" marT="45720" marB="45720">
                    <a:solidFill>
                      <a:srgbClr val="F6F8F9"/>
                    </a:solidFill>
                  </a:tcPr>
                </a:tc>
              </a:tr>
              <a:tr h="895350">
                <a:tc>
                  <a:txBody>
                    <a:bodyPr/>
                    <a:lstStyle/>
                    <a:p>
                      <a:r>
                        <a:rPr sz="2025" b="1">
                          <a:solidFill>
                            <a:srgbClr val="67519E"/>
                          </a:solidFill>
                          <a:latin typeface="Freesentation-4Regular"/>
                          <a:ea typeface="Freesentation-4Regular"/>
                          <a:cs typeface="Freesentation-4Regular"/>
                        </a:rPr>
                        <a:t>L3  Ontology</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업무 개념·관계·규칙과 데이터 의미 연결</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Ontology Studio / Ontologic Platform</a:t>
                      </a:r>
                    </a:p>
                  </a:txBody>
                  <a:tcPr marL="91440" marR="91440" marT="45720" marB="45720">
                    <a:solidFill>
                      <a:srgbClr val="FFFFFF"/>
                    </a:solidFill>
                  </a:tcPr>
                </a:tc>
              </a:tr>
              <a:tr h="895350">
                <a:tc>
                  <a:txBody>
                    <a:bodyPr/>
                    <a:lstStyle/>
                    <a:p>
                      <a:r>
                        <a:rPr sz="2025" b="1">
                          <a:solidFill>
                            <a:srgbClr val="67519E"/>
                          </a:solidFill>
                          <a:latin typeface="Freesentation-4Regular"/>
                          <a:ea typeface="Freesentation-4Regular"/>
                          <a:cs typeface="Freesentation-4Regular"/>
                        </a:rPr>
                        <a:t>L4  Data Sources</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기존 DB·문서·코드의 구조와 업무 파악</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Robo Analyzer / Robo Architect Legacy</a:t>
                      </a:r>
                    </a:p>
                  </a:txBody>
                  <a:tcPr marL="91440" marR="91440" marT="45720" marB="45720">
                    <a:solidFill>
                      <a:srgbClr val="F6F8F9"/>
                    </a:solidFill>
                  </a:tcPr>
                </a:tc>
              </a:tr>
            </a:tbl>
          </a:graphicData>
        </a:graphic>
      </p:graphicFrame>
      <p:sp>
        <p:nvSpPr>
          <p:cNvPr id="8" name="text-ulm0vl-80-696">
            <a:extLst xmlns:a="http://schemas.openxmlformats.org/drawingml/2006/main">
              <a:ext uri="{FF2B5EF4-FFF2-40B4-BE49-F238E27FC236}">
                <a16:creationId xmlns:a16="http://schemas.microsoft.com/office/drawing/2014/main" id="{6D258E8D-E76E-46A6-86E0-39382116CAE0}"/>
              </a:ext>
            </a:extLst>
          </p:cNvPr>
          <p:cNvSpPr>
            <a:spLocks xmlns:a="http://schemas.openxmlformats.org/drawingml/2006/main" noGrp="1"/>
          </p:cNvSpPr>
          <p:nvPr/>
        </p:nvSpPr>
        <p:spPr>
          <a:xfrm xmlns:a="http://schemas.openxmlformats.org/drawingml/2006/main">
            <a:off x="762000" y="6629400"/>
            <a:ext cx="1362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uEngine Cloud는 애플리케이션의 배포·운영 기반을 제공합니다</a:t>
            </a:r>
          </a:p>
        </p:txBody>
      </p:sp>
    </p:spTree>
    <p:extLst>
      <p:ext uri="{BB962C8B-B14F-4D97-AF65-F5344CB8AC3E}">
        <p14:creationId xmlns:p14="http://schemas.microsoft.com/office/powerpoint/2010/main" val="5521605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C4D67E1-C0E9-44F1-BDEB-29DE7EC27D87}"/>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d0hmv7-74-44">
            <a:extLst xmlns:a="http://schemas.openxmlformats.org/drawingml/2006/main">
              <a:ext uri="{FF2B5EF4-FFF2-40B4-BE49-F238E27FC236}">
                <a16:creationId xmlns:a16="http://schemas.microsoft.com/office/drawing/2014/main" id="{4972A9F9-C39E-43DC-AE0B-D5F45B1F5F25}"/>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제품별 역할과 결합 방식</a:t>
            </a:r>
          </a:p>
        </p:txBody>
      </p:sp>
      <p:sp>
        <p:nvSpPr>
          <p:cNvPr id="3" name="text-d0hmv7-74-131">
            <a:extLst xmlns:a="http://schemas.openxmlformats.org/drawingml/2006/main">
              <a:ext uri="{FF2B5EF4-FFF2-40B4-BE49-F238E27FC236}">
                <a16:creationId xmlns:a16="http://schemas.microsoft.com/office/drawing/2014/main" id="{A076C513-0271-413C-A013-0E08023E8B61}"/>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지식을 설계하고, 실제 값을 조회하며, 업무를 실행합니다</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b8fae61752f45df"/>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d0hmv7-80-841">
            <a:extLst xmlns:a="http://schemas.openxmlformats.org/drawingml/2006/main">
              <a:ext uri="{FF2B5EF4-FFF2-40B4-BE49-F238E27FC236}">
                <a16:creationId xmlns:a16="http://schemas.microsoft.com/office/drawing/2014/main" id="{6686908A-810F-4E7A-AAA9-CEDB0706B01F}"/>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01 회사와 제품</a:t>
            </a:r>
          </a:p>
        </p:txBody>
      </p:sp>
      <p:sp>
        <p:nvSpPr>
          <p:cNvPr id="6" name="text-d0hmv7-1470-839">
            <a:extLst xmlns:a="http://schemas.openxmlformats.org/drawingml/2006/main">
              <a:ext uri="{FF2B5EF4-FFF2-40B4-BE49-F238E27FC236}">
                <a16:creationId xmlns:a16="http://schemas.microsoft.com/office/drawing/2014/main" id="{BB43E097-CBE0-403E-860F-CC24AB0D66DC}"/>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05</a:t>
            </a:r>
          </a:p>
        </p:txBody>
      </p:sp>
      <p:sp>
        <p:nvSpPr>
          <p:cNvPr id="7" name="">
            <a:extLst xmlns:a="http://schemas.openxmlformats.org/drawingml/2006/main">
              <a:ext uri="{FF2B5EF4-FFF2-40B4-BE49-F238E27FC236}">
                <a16:creationId xmlns:a16="http://schemas.microsoft.com/office/drawing/2014/main" id="{9C08F730-8780-43C5-838A-FB9F21F63AE3}"/>
              </a:ext>
            </a:extLst>
          </p:cNvPr>
          <p:cNvSpPr>
            <a:spLocks xmlns:a="http://schemas.openxmlformats.org/drawingml/2006/main" noGrp="1"/>
          </p:cNvSpPr>
          <p:nvPr/>
        </p:nvSpPr>
        <p:spPr>
          <a:xfrm xmlns:a="http://schemas.openxmlformats.org/drawingml/2006/main">
            <a:off x="762000" y="2381250"/>
            <a:ext cx="4238625"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8" name="text-d0hmv7-95-259">
            <a:extLst xmlns:a="http://schemas.openxmlformats.org/drawingml/2006/main">
              <a:ext uri="{FF2B5EF4-FFF2-40B4-BE49-F238E27FC236}">
                <a16:creationId xmlns:a16="http://schemas.microsoft.com/office/drawing/2014/main" id="{8A65CA84-D78F-49BB-907A-3AD3B80EBD14}"/>
              </a:ext>
            </a:extLst>
          </p:cNvPr>
          <p:cNvSpPr>
            <a:spLocks xmlns:a="http://schemas.openxmlformats.org/drawingml/2006/main" noGrp="1"/>
          </p:cNvSpPr>
          <p:nvPr/>
        </p:nvSpPr>
        <p:spPr>
          <a:xfrm xmlns:a="http://schemas.openxmlformats.org/drawingml/2006/main">
            <a:off x="904875" y="2466975"/>
            <a:ext cx="3952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Ontology Studio</a:t>
            </a:r>
          </a:p>
        </p:txBody>
      </p:sp>
      <p:sp>
        <p:nvSpPr>
          <p:cNvPr id="9" name="text-d0hmv7-95-310">
            <a:extLst xmlns:a="http://schemas.openxmlformats.org/drawingml/2006/main">
              <a:ext uri="{FF2B5EF4-FFF2-40B4-BE49-F238E27FC236}">
                <a16:creationId xmlns:a16="http://schemas.microsoft.com/office/drawing/2014/main" id="{02B8C606-860F-483B-8D92-182D32330A73}"/>
              </a:ext>
            </a:extLst>
          </p:cNvPr>
          <p:cNvSpPr>
            <a:spLocks xmlns:a="http://schemas.openxmlformats.org/drawingml/2006/main" noGrp="1"/>
          </p:cNvSpPr>
          <p:nvPr/>
        </p:nvSpPr>
        <p:spPr>
          <a:xfrm xmlns:a="http://schemas.openxmlformats.org/drawingml/2006/main">
            <a:off x="904875" y="2952750"/>
            <a:ext cx="3952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문서와 DB에서 개념·관계 설계</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원천 컬럼과 조인 키 매핑</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검수·질의 검증 후 발행</a:t>
            </a:r>
          </a:p>
        </p:txBody>
      </p:sp>
      <p:sp>
        <p:nvSpPr>
          <p:cNvPr id="10" name="">
            <a:extLst xmlns:a="http://schemas.openxmlformats.org/drawingml/2006/main">
              <a:ext uri="{FF2B5EF4-FFF2-40B4-BE49-F238E27FC236}">
                <a16:creationId xmlns:a16="http://schemas.microsoft.com/office/drawing/2014/main" id="{7B0193AA-3A23-4DCF-A72C-3B02176BC694}"/>
              </a:ext>
            </a:extLst>
          </p:cNvPr>
          <p:cNvSpPr>
            <a:spLocks xmlns:a="http://schemas.openxmlformats.org/drawingml/2006/main" noGrp="1"/>
          </p:cNvSpPr>
          <p:nvPr/>
        </p:nvSpPr>
        <p:spPr>
          <a:xfrm xmlns:a="http://schemas.openxmlformats.org/drawingml/2006/main">
            <a:off x="5429250" y="2381250"/>
            <a:ext cx="4238625"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1" name="text-d0hmv7-585-259">
            <a:extLst xmlns:a="http://schemas.openxmlformats.org/drawingml/2006/main">
              <a:ext uri="{FF2B5EF4-FFF2-40B4-BE49-F238E27FC236}">
                <a16:creationId xmlns:a16="http://schemas.microsoft.com/office/drawing/2014/main" id="{236301EA-37D7-4309-8D6C-628896E5D310}"/>
              </a:ext>
            </a:extLst>
          </p:cNvPr>
          <p:cNvSpPr>
            <a:spLocks xmlns:a="http://schemas.openxmlformats.org/drawingml/2006/main" noGrp="1"/>
          </p:cNvSpPr>
          <p:nvPr/>
        </p:nvSpPr>
        <p:spPr>
          <a:xfrm xmlns:a="http://schemas.openxmlformats.org/drawingml/2006/main">
            <a:off x="5572125" y="2466975"/>
            <a:ext cx="3952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Ontologic Platform</a:t>
            </a:r>
          </a:p>
        </p:txBody>
      </p:sp>
      <p:sp>
        <p:nvSpPr>
          <p:cNvPr id="12" name="text-d0hmv7-585-310">
            <a:extLst xmlns:a="http://schemas.openxmlformats.org/drawingml/2006/main">
              <a:ext uri="{FF2B5EF4-FFF2-40B4-BE49-F238E27FC236}">
                <a16:creationId xmlns:a16="http://schemas.microsoft.com/office/drawing/2014/main" id="{45D8D675-30F2-46F3-A6E4-F974C8B9D540}"/>
              </a:ext>
            </a:extLst>
          </p:cNvPr>
          <p:cNvSpPr>
            <a:spLocks xmlns:a="http://schemas.openxmlformats.org/drawingml/2006/main" noGrp="1"/>
          </p:cNvSpPr>
          <p:nvPr/>
        </p:nvSpPr>
        <p:spPr>
          <a:xfrm xmlns:a="http://schemas.openxmlformats.org/drawingml/2006/main">
            <a:off x="5572125" y="2952750"/>
            <a:ext cx="3952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발행한 지식과 데이터 연결</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자연어 질의와 원인 분석</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What-if 분석 및 감시</a:t>
            </a:r>
          </a:p>
        </p:txBody>
      </p:sp>
      <p:sp>
        <p:nvSpPr>
          <p:cNvPr id="13" name="">
            <a:extLst xmlns:a="http://schemas.openxmlformats.org/drawingml/2006/main">
              <a:ext uri="{FF2B5EF4-FFF2-40B4-BE49-F238E27FC236}">
                <a16:creationId xmlns:a16="http://schemas.microsoft.com/office/drawing/2014/main" id="{9BB0655F-3ECF-4E86-8B59-5E4F4F0C124B}"/>
              </a:ext>
            </a:extLst>
          </p:cNvPr>
          <p:cNvSpPr>
            <a:spLocks xmlns:a="http://schemas.openxmlformats.org/drawingml/2006/main" noGrp="1"/>
          </p:cNvSpPr>
          <p:nvPr/>
        </p:nvSpPr>
        <p:spPr>
          <a:xfrm xmlns:a="http://schemas.openxmlformats.org/drawingml/2006/main">
            <a:off x="10096500" y="2381250"/>
            <a:ext cx="4238625"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4" name="text-d0hmv7-1075-259">
            <a:extLst xmlns:a="http://schemas.openxmlformats.org/drawingml/2006/main">
              <a:ext uri="{FF2B5EF4-FFF2-40B4-BE49-F238E27FC236}">
                <a16:creationId xmlns:a16="http://schemas.microsoft.com/office/drawing/2014/main" id="{1563E9D9-C979-441D-B366-027EE81BA434}"/>
              </a:ext>
            </a:extLst>
          </p:cNvPr>
          <p:cNvSpPr>
            <a:spLocks xmlns:a="http://schemas.openxmlformats.org/drawingml/2006/main" noGrp="1"/>
          </p:cNvSpPr>
          <p:nvPr/>
        </p:nvSpPr>
        <p:spPr>
          <a:xfrm xmlns:a="http://schemas.openxmlformats.org/drawingml/2006/main">
            <a:off x="10239375" y="2466975"/>
            <a:ext cx="3952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Process GPT</a:t>
            </a:r>
          </a:p>
        </p:txBody>
      </p:sp>
      <p:sp>
        <p:nvSpPr>
          <p:cNvPr id="15" name="text-d0hmv7-1075-310">
            <a:extLst xmlns:a="http://schemas.openxmlformats.org/drawingml/2006/main">
              <a:ext uri="{FF2B5EF4-FFF2-40B4-BE49-F238E27FC236}">
                <a16:creationId xmlns:a16="http://schemas.microsoft.com/office/drawing/2014/main" id="{FE01C530-DE77-4EDD-BAD3-E734A2A07EF2}"/>
              </a:ext>
            </a:extLst>
          </p:cNvPr>
          <p:cNvSpPr>
            <a:spLocks xmlns:a="http://schemas.openxmlformats.org/drawingml/2006/main" noGrp="1"/>
          </p:cNvSpPr>
          <p:nvPr/>
        </p:nvSpPr>
        <p:spPr>
          <a:xfrm xmlns:a="http://schemas.openxmlformats.org/drawingml/2006/main">
            <a:off x="10239375" y="2952750"/>
            <a:ext cx="3952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BPMN 업무 흐름 설계</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에이전트와 MCP 도구 실행</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사람 승인과 결과 기록</a:t>
            </a:r>
          </a:p>
        </p:txBody>
      </p:sp>
      <p:sp>
        <p:nvSpPr>
          <p:cNvPr id="16" name="text-d0hmv7-80-555">
            <a:extLst xmlns:a="http://schemas.openxmlformats.org/drawingml/2006/main">
              <a:ext uri="{FF2B5EF4-FFF2-40B4-BE49-F238E27FC236}">
                <a16:creationId xmlns:a16="http://schemas.microsoft.com/office/drawing/2014/main" id="{87F85985-343D-4F10-A0D5-2642D3EE9356}"/>
              </a:ext>
            </a:extLst>
          </p:cNvPr>
          <p:cNvSpPr>
            <a:spLocks xmlns:a="http://schemas.openxmlformats.org/drawingml/2006/main" noGrp="1"/>
          </p:cNvSpPr>
          <p:nvPr/>
        </p:nvSpPr>
        <p:spPr>
          <a:xfrm xmlns:a="http://schemas.openxmlformats.org/drawingml/2006/main">
            <a:off x="762000" y="5286375"/>
            <a:ext cx="1285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262626"/>
                </a:solidFill>
                <a:latin typeface="GmarketSansMedium"/>
                <a:ea typeface="GmarketSansMedium"/>
                <a:cs typeface="GmarketSansMedium"/>
              </a:defRPr>
            </a:pPr>
            <a:r>
              <a:rPr sz="2325" b="1">
                <a:solidFill>
                  <a:srgbClr val="262626"/>
                </a:solidFill>
                <a:latin typeface="GmarketSansMedium"/>
                <a:ea typeface="GmarketSansMedium"/>
                <a:cs typeface="GmarketSansMedium"/>
              </a:rPr>
              <a:t>증권 업무에서의 결합</a:t>
            </a:r>
          </a:p>
        </p:txBody>
      </p:sp>
      <p:sp>
        <p:nvSpPr>
          <p:cNvPr id="17" name="text-d0hmv7-80-623">
            <a:extLst xmlns:a="http://schemas.openxmlformats.org/drawingml/2006/main">
              <a:ext uri="{FF2B5EF4-FFF2-40B4-BE49-F238E27FC236}">
                <a16:creationId xmlns:a16="http://schemas.microsoft.com/office/drawing/2014/main" id="{1BD17D98-5822-4E22-A5EF-8F407A37F025}"/>
              </a:ext>
            </a:extLst>
          </p:cNvPr>
          <p:cNvSpPr>
            <a:spLocks xmlns:a="http://schemas.openxmlformats.org/drawingml/2006/main" noGrp="1"/>
          </p:cNvSpPr>
          <p:nvPr/>
        </p:nvSpPr>
        <p:spPr>
          <a:xfrm xmlns:a="http://schemas.openxmlformats.org/drawingml/2006/main">
            <a:off x="762000" y="5934075"/>
            <a:ext cx="1323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67519E"/>
                </a:solidFill>
                <a:latin typeface="GmarketSansMedium"/>
                <a:ea typeface="GmarketSansMedium"/>
                <a:cs typeface="GmarketSansMedium"/>
              </a:defRPr>
            </a:pPr>
            <a:r>
              <a:rPr sz="2550" b="1">
                <a:solidFill>
                  <a:srgbClr val="67519E"/>
                </a:solidFill>
                <a:latin typeface="GmarketSansMedium"/>
                <a:ea typeface="GmarketSansMedium"/>
                <a:cs typeface="GmarketSansMedium"/>
              </a:rPr>
              <a:t>상품·계좌·조항을 같은 의미 모델로 연결하고,</a:t>
            </a:r>
          </a:p>
          <a:p xmlns:a="http://schemas.openxmlformats.org/drawingml/2006/main">
            <a:pPr>
              <a:defRPr sz="2550" b="1">
                <a:solidFill>
                  <a:srgbClr val="67519E"/>
                </a:solidFill>
                <a:latin typeface="GmarketSansMedium"/>
                <a:ea typeface="GmarketSansMedium"/>
                <a:cs typeface="GmarketSansMedium"/>
              </a:defRPr>
            </a:pPr>
            <a:r>
              <a:rPr sz="2550" b="1">
                <a:solidFill>
                  <a:srgbClr val="67519E"/>
                </a:solidFill>
                <a:latin typeface="GmarketSansMedium"/>
                <a:ea typeface="GmarketSansMedium"/>
                <a:cs typeface="GmarketSansMedium"/>
              </a:rPr>
              <a:t>조회한 근거를 심사·검토·고객 안내 업무에 사용합니다</a:t>
            </a:r>
          </a:p>
        </p:txBody>
      </p:sp>
    </p:spTree>
    <p:extLst>
      <p:ext uri="{BB962C8B-B14F-4D97-AF65-F5344CB8AC3E}">
        <p14:creationId xmlns:p14="http://schemas.microsoft.com/office/powerpoint/2010/main" val="8578497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6355C6-E954-40D8-B876-8D955D044DAF}"/>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vw4njs-74-44">
            <a:extLst xmlns:a="http://schemas.openxmlformats.org/drawingml/2006/main">
              <a:ext uri="{FF2B5EF4-FFF2-40B4-BE49-F238E27FC236}">
                <a16:creationId xmlns:a16="http://schemas.microsoft.com/office/drawing/2014/main" id="{111EC0C1-9AE4-479C-94F8-FB5AE2BAC745}"/>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SKT · 수자원공사 · 한전</a:t>
            </a:r>
          </a:p>
        </p:txBody>
      </p:sp>
      <p:sp>
        <p:nvSpPr>
          <p:cNvPr id="3" name="text-vw4njs-74-131">
            <a:extLst xmlns:a="http://schemas.openxmlformats.org/drawingml/2006/main">
              <a:ext uri="{FF2B5EF4-FFF2-40B4-BE49-F238E27FC236}">
                <a16:creationId xmlns:a16="http://schemas.microsoft.com/office/drawing/2014/main" id="{D411CE74-D29E-4495-963A-6E9580A19D90}"/>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프로세스 자산화, 도메인 지식 구축, 업무 판단 연계</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a7d23c5bba94f01"/>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vw4njs-80-841">
            <a:extLst xmlns:a="http://schemas.openxmlformats.org/drawingml/2006/main">
              <a:ext uri="{FF2B5EF4-FFF2-40B4-BE49-F238E27FC236}">
                <a16:creationId xmlns:a16="http://schemas.microsoft.com/office/drawing/2014/main" id="{A175CD34-0401-4618-A6E9-0B63BBCF1A55}"/>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02 적용 사례</a:t>
            </a:r>
          </a:p>
        </p:txBody>
      </p:sp>
      <p:sp>
        <p:nvSpPr>
          <p:cNvPr id="6" name="text-vw4njs-1470-839">
            <a:extLst xmlns:a="http://schemas.openxmlformats.org/drawingml/2006/main">
              <a:ext uri="{FF2B5EF4-FFF2-40B4-BE49-F238E27FC236}">
                <a16:creationId xmlns:a16="http://schemas.microsoft.com/office/drawing/2014/main" id="{D464D674-3F90-4AD1-8909-DA3E80C880ED}"/>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06</a:t>
            </a:r>
          </a:p>
        </p:txBody>
      </p:sp>
      <p:graphicFrame>
        <p:nvGraphicFramePr>
          <p:cNvPr id="15" name=""/>
          <p:cNvGraphicFramePr/>
          <p:nvPr/>
        </p:nvGraphicFramePr>
        <p:xfrm>
          <a:off xmlns:a="http://schemas.openxmlformats.org/drawingml/2006/main" x="762000" y="2143125"/>
          <a:ext xmlns:a="http://schemas.openxmlformats.org/drawingml/2006/main" cx="13716000" cy="4362450"/>
        </p:xfrm>
        <a:graphic xmlns:a="http://schemas.openxmlformats.org/drawingml/2006/main">
          <a:graphicData uri="http://schemas.openxmlformats.org/drawingml/2006/table">
            <a:tbl>
              <a:tblPr/>
              <a:tblGrid>
                <a:gridCol w="3381375"/>
                <a:gridCol w="5476875"/>
                <a:gridCol w="4857750"/>
              </a:tblGrid>
              <a:tr h="609600">
                <a:tc>
                  <a:txBody>
                    <a:bodyPr/>
                    <a:lstStyle/>
                    <a:p>
                      <a:r>
                        <a:rPr sz="1800" b="1">
                          <a:solidFill>
                            <a:srgbClr val="FFFFFF"/>
                          </a:solidFill>
                          <a:latin typeface="Freesentation-4Regular"/>
                          <a:ea typeface="Freesentation-4Regular"/>
                          <a:cs typeface="Freesentation-4Regular"/>
                        </a:rPr>
                        <a:t>사례와 자료 상태</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적용 내용</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현대차증권에 연결할 관점</a:t>
                      </a:r>
                    </a:p>
                  </a:txBody>
                  <a:tcPr marL="91440" marR="91440" marT="45720" marB="45720">
                    <a:solidFill>
                      <a:srgbClr val="67519E"/>
                    </a:solidFill>
                  </a:tcPr>
                </a:tc>
              </a:tr>
              <a:tr h="1250950">
                <a:tc>
                  <a:txBody>
                    <a:bodyPr/>
                    <a:lstStyle/>
                    <a:p>
                      <a:r>
                        <a:rPr sz="2025" b="1">
                          <a:solidFill>
                            <a:srgbClr val="67519E"/>
                          </a:solidFill>
                          <a:latin typeface="Freesentation-4Regular"/>
                          <a:ea typeface="Freesentation-4Regular"/>
                          <a:cs typeface="Freesentation-4Regular"/>
                        </a:rPr>
                        <a:t>SKT</a:t>
                      </a:r>
                    </a:p>
                    <a:p>
                      <a:r>
                        <a:rPr sz="2025" b="1">
                          <a:solidFill>
                            <a:srgbClr val="67519E"/>
                          </a:solidFill>
                          <a:latin typeface="Freesentation-4Regular"/>
                          <a:ea typeface="Freesentation-4Regular"/>
                          <a:cs typeface="Freesentation-4Regular"/>
                        </a:rPr>
                        <a:t>2026년 구축 이력</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OSS 영역의 프로세스 자산화와</a:t>
                      </a:r>
                    </a:p>
                    <a:p>
                      <a:r>
                        <a:rPr sz="2025" b="0">
                          <a:solidFill>
                            <a:srgbClr val="262626"/>
                          </a:solidFill>
                          <a:latin typeface="Freesentation-4Regular"/>
                          <a:ea typeface="Freesentation-4Regular"/>
                          <a:cs typeface="Freesentation-4Regular"/>
                        </a:rPr>
                        <a:t>Process GPT 기반 Agentic 자동화</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업무 절차를 모델로 관리하고</a:t>
                      </a:r>
                    </a:p>
                    <a:p>
                      <a:r>
                        <a:rPr sz="2025" b="0">
                          <a:solidFill>
                            <a:srgbClr val="262626"/>
                          </a:solidFill>
                          <a:latin typeface="Freesentation-4Regular"/>
                          <a:ea typeface="Freesentation-4Regular"/>
                          <a:cs typeface="Freesentation-4Regular"/>
                        </a:rPr>
                        <a:t>에이전트 실행과 연결</a:t>
                      </a:r>
                    </a:p>
                  </a:txBody>
                  <a:tcPr marL="91440" marR="91440" marT="45720" marB="45720">
                    <a:solidFill>
                      <a:srgbClr val="FFFFFF"/>
                    </a:solidFill>
                  </a:tcPr>
                </a:tc>
              </a:tr>
              <a:tr h="1250950">
                <a:tc>
                  <a:txBody>
                    <a:bodyPr/>
                    <a:lstStyle/>
                    <a:p>
                      <a:r>
                        <a:rPr sz="2025" b="1">
                          <a:solidFill>
                            <a:srgbClr val="67519E"/>
                          </a:solidFill>
                          <a:latin typeface="Freesentation-4Regular"/>
                          <a:ea typeface="Freesentation-4Regular"/>
                          <a:cs typeface="Freesentation-4Regular"/>
                        </a:rPr>
                        <a:t>수자원공사</a:t>
                      </a:r>
                    </a:p>
                    <a:p>
                      <a:r>
                        <a:rPr sz="2025" b="1">
                          <a:solidFill>
                            <a:srgbClr val="67519E"/>
                          </a:solidFill>
                          <a:latin typeface="Freesentation-4Regular"/>
                          <a:ea typeface="Freesentation-4Regular"/>
                          <a:cs typeface="Freesentation-4Regular"/>
                        </a:rPr>
                        <a:t>온톨로지 시범구축 보고</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시설·운영 데이터·규정의 5계층 모델</a:t>
                      </a:r>
                    </a:p>
                    <a:p>
                      <a:r>
                        <a:rPr sz="2025" b="0">
                          <a:solidFill>
                            <a:srgbClr val="262626"/>
                          </a:solidFill>
                          <a:latin typeface="Freesentation-4Regular"/>
                          <a:ea typeface="Freesentation-4Regular"/>
                          <a:cs typeface="Freesentation-4Regular"/>
                        </a:rPr>
                        <a:t>수자원과 수도의 연결관계 구성</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서로 다른 데이터와 문서의</a:t>
                      </a:r>
                    </a:p>
                    <a:p>
                      <a:r>
                        <a:rPr sz="2025" b="0">
                          <a:solidFill>
                            <a:srgbClr val="262626"/>
                          </a:solidFill>
                          <a:latin typeface="Freesentation-4Regular"/>
                          <a:ea typeface="Freesentation-4Regular"/>
                          <a:cs typeface="Freesentation-4Regular"/>
                        </a:rPr>
                        <a:t>의미 통합 및 근거 추적</a:t>
                      </a:r>
                    </a:p>
                  </a:txBody>
                  <a:tcPr marL="91440" marR="91440" marT="45720" marB="45720">
                    <a:solidFill>
                      <a:srgbClr val="F6F8F9"/>
                    </a:solidFill>
                  </a:tcPr>
                </a:tc>
              </a:tr>
              <a:tr h="1250950">
                <a:tc>
                  <a:txBody>
                    <a:bodyPr/>
                    <a:lstStyle/>
                    <a:p>
                      <a:r>
                        <a:rPr sz="2025" b="1">
                          <a:solidFill>
                            <a:srgbClr val="67519E"/>
                          </a:solidFill>
                          <a:latin typeface="Freesentation-4Regular"/>
                          <a:ea typeface="Freesentation-4Regular"/>
                          <a:cs typeface="Freesentation-4Regular"/>
                        </a:rPr>
                        <a:t>한전 해외사업</a:t>
                      </a:r>
                    </a:p>
                    <a:p>
                      <a:r>
                        <a:rPr sz="2025" b="1">
                          <a:solidFill>
                            <a:srgbClr val="67519E"/>
                          </a:solidFill>
                          <a:latin typeface="Freesentation-4Regular"/>
                          <a:ea typeface="Freesentation-4Regular"/>
                          <a:cs typeface="Freesentation-4Regular"/>
                        </a:rPr>
                        <a:t>AI 에이전트 PoC</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NDA 검토, 재무 양식 작성</a:t>
                      </a:r>
                    </a:p>
                    <a:p>
                      <a:r>
                        <a:rPr sz="2025" b="0">
                          <a:solidFill>
                            <a:srgbClr val="262626"/>
                          </a:solidFill>
                          <a:latin typeface="Freesentation-4Regular"/>
                          <a:ea typeface="Freesentation-4Regular"/>
                          <a:cs typeface="Freesentation-4Regular"/>
                        </a:rPr>
                        <a:t>RFI 번역, 계약 조건 비교</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문서 지식을 근거로 산출물 생성</a:t>
                      </a:r>
                    </a:p>
                    <a:p>
                      <a:r>
                        <a:rPr sz="2025" b="0">
                          <a:solidFill>
                            <a:srgbClr val="262626"/>
                          </a:solidFill>
                          <a:latin typeface="Freesentation-4Regular"/>
                          <a:ea typeface="Freesentation-4Regular"/>
                          <a:cs typeface="Freesentation-4Regular"/>
                        </a:rPr>
                        <a:t>담당자 검토와 업무 실행 연결</a:t>
                      </a:r>
                    </a:p>
                  </a:txBody>
                  <a:tcPr marL="91440" marR="91440" marT="45720" marB="45720">
                    <a:solidFill>
                      <a:srgbClr val="FFFFFF"/>
                    </a:solidFill>
                  </a:tcPr>
                </a:tc>
              </a:tr>
            </a:tbl>
          </a:graphicData>
        </a:graphic>
      </p:graphicFrame>
      <p:sp>
        <p:nvSpPr>
          <p:cNvPr id="8" name="text-vw4njs-80-698">
            <a:extLst xmlns:a="http://schemas.openxmlformats.org/drawingml/2006/main">
              <a:ext uri="{FF2B5EF4-FFF2-40B4-BE49-F238E27FC236}">
                <a16:creationId xmlns:a16="http://schemas.microsoft.com/office/drawing/2014/main" id="{E318C71C-E1BE-4D2D-BC13-0B74C800B854}"/>
              </a:ext>
            </a:extLst>
          </p:cNvPr>
          <p:cNvSpPr>
            <a:spLocks xmlns:a="http://schemas.openxmlformats.org/drawingml/2006/main" noGrp="1"/>
          </p:cNvSpPr>
          <p:nvPr/>
        </p:nvSpPr>
        <p:spPr>
          <a:xfrm xmlns:a="http://schemas.openxmlformats.org/drawingml/2006/main">
            <a:off x="762000" y="66484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86868"/>
                </a:solidFill>
                <a:latin typeface="Freesentation-4Regular"/>
                <a:ea typeface="Freesentation-4Regular"/>
                <a:cs typeface="Freesentation-4Regular"/>
              </a:defRPr>
            </a:pPr>
            <a:r>
              <a:rPr sz="1725" b="0">
                <a:solidFill>
                  <a:srgbClr val="686868"/>
                </a:solidFill>
                <a:latin typeface="Freesentation-4Regular"/>
                <a:ea typeface="Freesentation-4Regular"/>
                <a:cs typeface="Freesentation-4Regular"/>
              </a:rPr>
              <a:t>한전 PoC는 문서 생성의 프로세스 내 자동 수행을 검증한 사례입니다. 성과는 정성 평가 기준입니다.</a:t>
            </a:r>
          </a:p>
        </p:txBody>
      </p:sp>
    </p:spTree>
    <p:extLst>
      <p:ext uri="{BB962C8B-B14F-4D97-AF65-F5344CB8AC3E}">
        <p14:creationId xmlns:p14="http://schemas.microsoft.com/office/powerpoint/2010/main" val="19314400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520ACC-7E31-44F3-AEF5-1FA8B2F2894C}"/>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czjq9z-74-44">
            <a:extLst xmlns:a="http://schemas.openxmlformats.org/drawingml/2006/main">
              <a:ext uri="{FF2B5EF4-FFF2-40B4-BE49-F238E27FC236}">
                <a16:creationId xmlns:a16="http://schemas.microsoft.com/office/drawing/2014/main" id="{CE41A07A-7A39-4D2A-B4C2-769D3D9F9428}"/>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SKT OSS: 업무와 온톨로지를 함께 설계</a:t>
            </a:r>
          </a:p>
        </p:txBody>
      </p:sp>
      <p:sp>
        <p:nvSpPr>
          <p:cNvPr id="3" name="text-czjq9z-74-131">
            <a:extLst xmlns:a="http://schemas.openxmlformats.org/drawingml/2006/main">
              <a:ext uri="{FF2B5EF4-FFF2-40B4-BE49-F238E27FC236}">
                <a16:creationId xmlns:a16="http://schemas.microsoft.com/office/drawing/2014/main" id="{926773E5-0D49-4E08-B25E-FF7C04A85853}"/>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제공된 2026년 5월 제안서의 SID 정렬 도메인 모델</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18440e4afe64359"/>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czjq9z-80-841">
            <a:extLst xmlns:a="http://schemas.openxmlformats.org/drawingml/2006/main">
              <a:ext uri="{FF2B5EF4-FFF2-40B4-BE49-F238E27FC236}">
                <a16:creationId xmlns:a16="http://schemas.microsoft.com/office/drawing/2014/main" id="{466B5D47-922D-41F9-82C5-0136E9D32446}"/>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02 적용 사례</a:t>
            </a:r>
          </a:p>
        </p:txBody>
      </p:sp>
      <p:sp>
        <p:nvSpPr>
          <p:cNvPr id="6" name="text-czjq9z-1470-839">
            <a:extLst xmlns:a="http://schemas.openxmlformats.org/drawingml/2006/main">
              <a:ext uri="{FF2B5EF4-FFF2-40B4-BE49-F238E27FC236}">
                <a16:creationId xmlns:a16="http://schemas.microsoft.com/office/drawing/2014/main" id="{C433A695-62C8-4E61-B3AA-F6BC9A8EB728}"/>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12321591e004532"/>
          <a:srcRect xmlns:a="http://schemas.openxmlformats.org/drawingml/2006/main" l="4000" t="14000" r="4000" b="36000"/>
          <a:stretch xmlns:a="http://schemas.openxmlformats.org/drawingml/2006/main">
            <a:fillRect l="0" t="0" r="0" b="0"/>
          </a:stretch>
        </p:blipFill>
        <p:spPr>
          <a:xfrm xmlns:a="http://schemas.openxmlformats.org/drawingml/2006/main">
            <a:off x="762000" y="2028825"/>
            <a:ext cx="13716000" cy="4238625"/>
          </a:xfrm>
          <a:prstGeom xmlns:a="http://schemas.openxmlformats.org/drawingml/2006/main" prst="rect">
            <a:avLst/>
          </a:prstGeom>
        </p:spPr>
      </p:pic>
      <p:sp>
        <p:nvSpPr>
          <p:cNvPr id="8" name="text-czjq9z-80-706">
            <a:extLst xmlns:a="http://schemas.openxmlformats.org/drawingml/2006/main">
              <a:ext uri="{FF2B5EF4-FFF2-40B4-BE49-F238E27FC236}">
                <a16:creationId xmlns:a16="http://schemas.microsoft.com/office/drawing/2014/main" id="{0C04E044-2B26-4D34-8877-EEA77786517C}"/>
              </a:ext>
            </a:extLst>
          </p:cNvPr>
          <p:cNvSpPr>
            <a:spLocks xmlns:a="http://schemas.openxmlformats.org/drawingml/2006/main" noGrp="1"/>
          </p:cNvSpPr>
          <p:nvPr/>
        </p:nvSpPr>
        <p:spPr>
          <a:xfrm xmlns:a="http://schemas.openxmlformats.org/drawingml/2006/main">
            <a:off x="762000" y="672465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67519E"/>
                </a:solidFill>
                <a:latin typeface="Freesentation-4Regular"/>
                <a:ea typeface="Freesentation-4Regular"/>
                <a:cs typeface="Freesentation-4Regular"/>
              </a:defRPr>
            </a:pPr>
            <a:r>
              <a:rPr sz="1950" b="1">
                <a:solidFill>
                  <a:srgbClr val="67519E"/>
                </a:solidFill>
                <a:latin typeface="Freesentation-4Regular"/>
                <a:ea typeface="Freesentation-4Regular"/>
                <a:cs typeface="Freesentation-4Regular"/>
              </a:rPr>
              <a:t>서비스 개통과 장애 처리에서 고객·서비스·자원·정책을 연결하고, 에이전트가 같은 의미를 사용하도록 설계</a:t>
            </a:r>
          </a:p>
        </p:txBody>
      </p:sp>
    </p:spTree>
    <p:extLst>
      <p:ext uri="{BB962C8B-B14F-4D97-AF65-F5344CB8AC3E}">
        <p14:creationId xmlns:p14="http://schemas.microsoft.com/office/powerpoint/2010/main" val="16223248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29282D6-E8B1-492F-9B10-0D8A29E8B197}"/>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hxeb7e-74-44">
            <a:extLst xmlns:a="http://schemas.openxmlformats.org/drawingml/2006/main">
              <a:ext uri="{FF2B5EF4-FFF2-40B4-BE49-F238E27FC236}">
                <a16:creationId xmlns:a16="http://schemas.microsoft.com/office/drawing/2014/main" id="{4B90921B-31D0-4A65-9ABA-7E6498F0B604}"/>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한전 해외사업: AI 에이전트 PoC</a:t>
            </a:r>
          </a:p>
        </p:txBody>
      </p:sp>
      <p:sp>
        <p:nvSpPr>
          <p:cNvPr id="3" name="text-hxeb7e-74-131">
            <a:extLst xmlns:a="http://schemas.openxmlformats.org/drawingml/2006/main">
              <a:ext uri="{FF2B5EF4-FFF2-40B4-BE49-F238E27FC236}">
                <a16:creationId xmlns:a16="http://schemas.microsoft.com/office/drawing/2014/main" id="{E3F999E0-3E5A-4A87-9CF1-B38B0B2DEA2A}"/>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기존 검토 사례를 참조해 NDA 검토 초안을 생성</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ab7c5db5a4c4f50"/>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hxeb7e-80-841">
            <a:extLst xmlns:a="http://schemas.openxmlformats.org/drawingml/2006/main">
              <a:ext uri="{FF2B5EF4-FFF2-40B4-BE49-F238E27FC236}">
                <a16:creationId xmlns:a16="http://schemas.microsoft.com/office/drawing/2014/main" id="{3667377D-355E-4367-AC5E-249D18623DB8}"/>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02 적용 사례</a:t>
            </a:r>
          </a:p>
        </p:txBody>
      </p:sp>
      <p:sp>
        <p:nvSpPr>
          <p:cNvPr id="6" name="text-hxeb7e-1470-839">
            <a:extLst xmlns:a="http://schemas.openxmlformats.org/drawingml/2006/main">
              <a:ext uri="{FF2B5EF4-FFF2-40B4-BE49-F238E27FC236}">
                <a16:creationId xmlns:a16="http://schemas.microsoft.com/office/drawing/2014/main" id="{4BD7E074-BF8E-4C3B-862E-537E2912374E}"/>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08</a:t>
            </a:r>
          </a:p>
        </p:txBody>
      </p:sp>
      <p:sp>
        <p:nvSpPr>
          <p:cNvPr id="7" name="">
            <a:extLst xmlns:a="http://schemas.openxmlformats.org/drawingml/2006/main">
              <a:ext uri="{FF2B5EF4-FFF2-40B4-BE49-F238E27FC236}">
                <a16:creationId xmlns:a16="http://schemas.microsoft.com/office/drawing/2014/main" id="{A8AA9C2A-AE8F-4B34-A63E-87E4DE6D62D5}"/>
              </a:ext>
            </a:extLst>
          </p:cNvPr>
          <p:cNvSpPr>
            <a:spLocks xmlns:a="http://schemas.openxmlformats.org/drawingml/2006/main" noGrp="1"/>
          </p:cNvSpPr>
          <p:nvPr/>
        </p:nvSpPr>
        <p:spPr>
          <a:xfrm xmlns:a="http://schemas.openxmlformats.org/drawingml/2006/main">
            <a:off x="762000" y="2143125"/>
            <a:ext cx="61912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8" name="text-hxeb7e-95-234">
            <a:extLst xmlns:a="http://schemas.openxmlformats.org/drawingml/2006/main">
              <a:ext uri="{FF2B5EF4-FFF2-40B4-BE49-F238E27FC236}">
                <a16:creationId xmlns:a16="http://schemas.microsoft.com/office/drawing/2014/main" id="{F8305C21-58A7-4774-B3B7-40065590354B}"/>
              </a:ext>
            </a:extLst>
          </p:cNvPr>
          <p:cNvSpPr>
            <a:spLocks xmlns:a="http://schemas.openxmlformats.org/drawingml/2006/main" noGrp="1"/>
          </p:cNvSpPr>
          <p:nvPr/>
        </p:nvSpPr>
        <p:spPr>
          <a:xfrm xmlns:a="http://schemas.openxmlformats.org/drawingml/2006/main">
            <a:off x="904875" y="2228850"/>
            <a:ext cx="590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참조 지식</a:t>
            </a:r>
          </a:p>
        </p:txBody>
      </p:sp>
      <p:sp>
        <p:nvSpPr>
          <p:cNvPr id="9" name="text-hxeb7e-95-285">
            <a:extLst xmlns:a="http://schemas.openxmlformats.org/drawingml/2006/main">
              <a:ext uri="{FF2B5EF4-FFF2-40B4-BE49-F238E27FC236}">
                <a16:creationId xmlns:a16="http://schemas.microsoft.com/office/drawing/2014/main" id="{8B1DA1C4-C4E3-4E7D-8951-E075CFD2288B}"/>
              </a:ext>
            </a:extLst>
          </p:cNvPr>
          <p:cNvSpPr>
            <a:spLocks xmlns:a="http://schemas.openxmlformats.org/drawingml/2006/main" noGrp="1"/>
          </p:cNvSpPr>
          <p:nvPr/>
        </p:nvSpPr>
        <p:spPr>
          <a:xfrm xmlns:a="http://schemas.openxmlformats.org/drawingml/2006/main">
            <a:off x="904875" y="271462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표준 NDA와 과거 계약서</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변호사 검토 메모를 지식 베이스에 등록</a:t>
            </a:r>
          </a:p>
        </p:txBody>
      </p:sp>
      <p:sp>
        <p:nvSpPr>
          <p:cNvPr id="10" name="">
            <a:extLst xmlns:a="http://schemas.openxmlformats.org/drawingml/2006/main">
              <a:ext uri="{FF2B5EF4-FFF2-40B4-BE49-F238E27FC236}">
                <a16:creationId xmlns:a16="http://schemas.microsoft.com/office/drawing/2014/main" id="{326623A9-9506-4DFB-907E-CF9B4F35C082}"/>
              </a:ext>
            </a:extLst>
          </p:cNvPr>
          <p:cNvSpPr>
            <a:spLocks xmlns:a="http://schemas.openxmlformats.org/drawingml/2006/main" noGrp="1"/>
          </p:cNvSpPr>
          <p:nvPr/>
        </p:nvSpPr>
        <p:spPr>
          <a:xfrm xmlns:a="http://schemas.openxmlformats.org/drawingml/2006/main">
            <a:off x="762000" y="4029075"/>
            <a:ext cx="61912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1" name="text-hxeb7e-95-432">
            <a:extLst xmlns:a="http://schemas.openxmlformats.org/drawingml/2006/main">
              <a:ext uri="{FF2B5EF4-FFF2-40B4-BE49-F238E27FC236}">
                <a16:creationId xmlns:a16="http://schemas.microsoft.com/office/drawing/2014/main" id="{BC7F8577-C2EA-44CF-AE3C-32D2D22407B9}"/>
              </a:ext>
            </a:extLst>
          </p:cNvPr>
          <p:cNvSpPr>
            <a:spLocks xmlns:a="http://schemas.openxmlformats.org/drawingml/2006/main" noGrp="1"/>
          </p:cNvSpPr>
          <p:nvPr/>
        </p:nvSpPr>
        <p:spPr>
          <a:xfrm xmlns:a="http://schemas.openxmlformats.org/drawingml/2006/main">
            <a:off x="904875" y="4114800"/>
            <a:ext cx="590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에이전트 실행</a:t>
            </a:r>
          </a:p>
        </p:txBody>
      </p:sp>
      <p:sp>
        <p:nvSpPr>
          <p:cNvPr id="12" name="text-hxeb7e-95-483">
            <a:extLst xmlns:a="http://schemas.openxmlformats.org/drawingml/2006/main">
              <a:ext uri="{FF2B5EF4-FFF2-40B4-BE49-F238E27FC236}">
                <a16:creationId xmlns:a16="http://schemas.microsoft.com/office/drawing/2014/main" id="{2F75ACF3-3679-4983-B077-360993D765C6}"/>
              </a:ext>
            </a:extLst>
          </p:cNvPr>
          <p:cNvSpPr>
            <a:spLocks xmlns:a="http://schemas.openxmlformats.org/drawingml/2006/main" noGrp="1"/>
          </p:cNvSpPr>
          <p:nvPr/>
        </p:nvSpPr>
        <p:spPr>
          <a:xfrm xmlns:a="http://schemas.openxmlformats.org/drawingml/2006/main">
            <a:off x="904875" y="46005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검토 요청에 따라 사례를 비교하고</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권고 내용을 담은 PDF 검토서 생성</a:t>
            </a:r>
          </a:p>
        </p:txBody>
      </p:sp>
      <p:sp>
        <p:nvSpPr>
          <p:cNvPr id="13" name="">
            <a:extLst xmlns:a="http://schemas.openxmlformats.org/drawingml/2006/main">
              <a:ext uri="{FF2B5EF4-FFF2-40B4-BE49-F238E27FC236}">
                <a16:creationId xmlns:a16="http://schemas.microsoft.com/office/drawing/2014/main" id="{67F95B80-212E-49D8-9E56-0559C1F234F8}"/>
              </a:ext>
            </a:extLst>
          </p:cNvPr>
          <p:cNvSpPr>
            <a:spLocks xmlns:a="http://schemas.openxmlformats.org/drawingml/2006/main" noGrp="1"/>
          </p:cNvSpPr>
          <p:nvPr/>
        </p:nvSpPr>
        <p:spPr>
          <a:xfrm xmlns:a="http://schemas.openxmlformats.org/drawingml/2006/main">
            <a:off x="762000" y="5915025"/>
            <a:ext cx="61912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4" name="text-hxeb7e-95-630">
            <a:extLst xmlns:a="http://schemas.openxmlformats.org/drawingml/2006/main">
              <a:ext uri="{FF2B5EF4-FFF2-40B4-BE49-F238E27FC236}">
                <a16:creationId xmlns:a16="http://schemas.microsoft.com/office/drawing/2014/main" id="{B2A98932-C972-4BE7-A675-7799D157CA93}"/>
              </a:ext>
            </a:extLst>
          </p:cNvPr>
          <p:cNvSpPr>
            <a:spLocks xmlns:a="http://schemas.openxmlformats.org/drawingml/2006/main" noGrp="1"/>
          </p:cNvSpPr>
          <p:nvPr/>
        </p:nvSpPr>
        <p:spPr>
          <a:xfrm xmlns:a="http://schemas.openxmlformats.org/drawingml/2006/main">
            <a:off x="904875" y="6000750"/>
            <a:ext cx="590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프로세스 적용</a:t>
            </a:r>
          </a:p>
        </p:txBody>
      </p:sp>
      <p:sp>
        <p:nvSpPr>
          <p:cNvPr id="15" name="text-hxeb7e-95-681">
            <a:extLst xmlns:a="http://schemas.openxmlformats.org/drawingml/2006/main">
              <a:ext uri="{FF2B5EF4-FFF2-40B4-BE49-F238E27FC236}">
                <a16:creationId xmlns:a16="http://schemas.microsoft.com/office/drawing/2014/main" id="{428FE1FA-504B-4353-A33E-107FB4E53F0E}"/>
              </a:ext>
            </a:extLst>
          </p:cNvPr>
          <p:cNvSpPr>
            <a:spLocks xmlns:a="http://schemas.openxmlformats.org/drawingml/2006/main" noGrp="1"/>
          </p:cNvSpPr>
          <p:nvPr/>
        </p:nvSpPr>
        <p:spPr>
          <a:xfrm xmlns:a="http://schemas.openxmlformats.org/drawingml/2006/main">
            <a:off x="904875" y="648652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담당자가 초안을 검토·보완·승인</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프로세스 인스턴스에 생성 이력 보관</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4deb1e02d7a4214"/>
          <a:stretch xmlns:a="http://schemas.openxmlformats.org/drawingml/2006/main"/>
        </p:blipFill>
        <p:spPr>
          <a:xfrm xmlns:a="http://schemas.openxmlformats.org/drawingml/2006/main">
            <a:off x="8005838" y="2143125"/>
            <a:ext cx="5991075" cy="5238750"/>
          </a:xfrm>
          <a:prstGeom xmlns:a="http://schemas.openxmlformats.org/drawingml/2006/main" prst="rect">
            <a:avLst/>
          </a:prstGeom>
        </p:spPr>
      </p:pic>
      <p:sp>
        <p:nvSpPr>
          <p:cNvPr id="17" name="text-hxeb7e-795-807">
            <a:extLst xmlns:a="http://schemas.openxmlformats.org/drawingml/2006/main">
              <a:ext uri="{FF2B5EF4-FFF2-40B4-BE49-F238E27FC236}">
                <a16:creationId xmlns:a16="http://schemas.microsoft.com/office/drawing/2014/main" id="{2B480E2C-A86D-495B-AE5B-6CCB3F647CC7}"/>
              </a:ext>
            </a:extLst>
          </p:cNvPr>
          <p:cNvSpPr>
            <a:spLocks xmlns:a="http://schemas.openxmlformats.org/drawingml/2006/main" noGrp="1"/>
          </p:cNvSpPr>
          <p:nvPr/>
        </p:nvSpPr>
        <p:spPr>
          <a:xfrm xmlns:a="http://schemas.openxmlformats.org/drawingml/2006/main">
            <a:off x="7572375" y="7686675"/>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86868"/>
                </a:solidFill>
                <a:latin typeface="Freesentation-4Regular"/>
                <a:ea typeface="Freesentation-4Regular"/>
                <a:cs typeface="Freesentation-4Regular"/>
              </a:defRPr>
            </a:pPr>
            <a:r>
              <a:rPr sz="1500" b="0">
                <a:solidFill>
                  <a:srgbClr val="686868"/>
                </a:solidFill>
                <a:latin typeface="Freesentation-4Regular"/>
                <a:ea typeface="Freesentation-4Regular"/>
                <a:cs typeface="Freesentation-4Regular"/>
              </a:rPr>
              <a:t>시연용 가상 NDA / 제공 자료의 실제 데모 화면</a:t>
            </a:r>
          </a:p>
        </p:txBody>
      </p:sp>
    </p:spTree>
    <p:extLst>
      <p:ext uri="{BB962C8B-B14F-4D97-AF65-F5344CB8AC3E}">
        <p14:creationId xmlns:p14="http://schemas.microsoft.com/office/powerpoint/2010/main" val="15008664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C02FB6-0F3D-442F-A889-8F23D9C58AF3}"/>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6umuai-74-44">
            <a:extLst xmlns:a="http://schemas.openxmlformats.org/drawingml/2006/main">
              <a:ext uri="{FF2B5EF4-FFF2-40B4-BE49-F238E27FC236}">
                <a16:creationId xmlns:a16="http://schemas.microsoft.com/office/drawing/2014/main" id="{9B23AA0D-F8A2-49C5-96E1-D734503A9E0F}"/>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한전 PoC의 문서 업무와 증권 적용 관점</a:t>
            </a:r>
          </a:p>
        </p:txBody>
      </p:sp>
      <p:sp>
        <p:nvSpPr>
          <p:cNvPr id="3" name="text-6umuai-74-131">
            <a:extLst xmlns:a="http://schemas.openxmlformats.org/drawingml/2006/main">
              <a:ext uri="{FF2B5EF4-FFF2-40B4-BE49-F238E27FC236}">
                <a16:creationId xmlns:a16="http://schemas.microsoft.com/office/drawing/2014/main" id="{6FAD5248-1324-4438-B618-07036F6409D7}"/>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문서 생성의 프로세스 내 자동 수행을 검증한 사례</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4e23228e837477f"/>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6umuai-80-841">
            <a:extLst xmlns:a="http://schemas.openxmlformats.org/drawingml/2006/main">
              <a:ext uri="{FF2B5EF4-FFF2-40B4-BE49-F238E27FC236}">
                <a16:creationId xmlns:a16="http://schemas.microsoft.com/office/drawing/2014/main" id="{CDB1A079-40A4-4223-8655-1E1DE0A4176F}"/>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02 적용 사례</a:t>
            </a:r>
          </a:p>
        </p:txBody>
      </p:sp>
      <p:sp>
        <p:nvSpPr>
          <p:cNvPr id="6" name="text-6umuai-1470-839">
            <a:extLst xmlns:a="http://schemas.openxmlformats.org/drawingml/2006/main">
              <a:ext uri="{FF2B5EF4-FFF2-40B4-BE49-F238E27FC236}">
                <a16:creationId xmlns:a16="http://schemas.microsoft.com/office/drawing/2014/main" id="{A2C63E97-26F3-45F5-842B-F5E87A5E9454}"/>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09</a:t>
            </a:r>
          </a:p>
        </p:txBody>
      </p:sp>
      <p:graphicFrame>
        <p:nvGraphicFramePr>
          <p:cNvPr id="16" name=""/>
          <p:cNvGraphicFramePr/>
          <p:nvPr/>
        </p:nvGraphicFramePr>
        <p:xfrm>
          <a:off xmlns:a="http://schemas.openxmlformats.org/drawingml/2006/main" x="762000" y="2076450"/>
          <a:ext xmlns:a="http://schemas.openxmlformats.org/drawingml/2006/main" cx="13716000" cy="4533900"/>
        </p:xfrm>
        <a:graphic xmlns:a="http://schemas.openxmlformats.org/drawingml/2006/main">
          <a:graphicData uri="http://schemas.openxmlformats.org/drawingml/2006/table">
            <a:tbl>
              <a:tblPr/>
              <a:tblGrid>
                <a:gridCol w="3143250"/>
                <a:gridCol w="5238750"/>
                <a:gridCol w="5334000"/>
              </a:tblGrid>
              <a:tr h="609600">
                <a:tc>
                  <a:txBody>
                    <a:bodyPr/>
                    <a:lstStyle/>
                    <a:p>
                      <a:r>
                        <a:rPr sz="1800" b="1">
                          <a:solidFill>
                            <a:srgbClr val="FFFFFF"/>
                          </a:solidFill>
                          <a:latin typeface="Freesentation-4Regular"/>
                          <a:ea typeface="Freesentation-4Regular"/>
                          <a:cs typeface="Freesentation-4Regular"/>
                        </a:rPr>
                        <a:t>PoC에서 시연한 업무</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생성·조회 결과</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증권 업무 적용 아이디어</a:t>
                      </a:r>
                    </a:p>
                  </a:txBody>
                  <a:tcPr marL="91440" marR="91440" marT="45720" marB="45720">
                    <a:solidFill>
                      <a:srgbClr val="67519E"/>
                    </a:solidFill>
                  </a:tcPr>
                </a:tc>
              </a:tr>
              <a:tr h="981075">
                <a:tc>
                  <a:txBody>
                    <a:bodyPr/>
                    <a:lstStyle/>
                    <a:p>
                      <a:r>
                        <a:rPr sz="2025" b="1">
                          <a:solidFill>
                            <a:srgbClr val="67519E"/>
                          </a:solidFill>
                          <a:latin typeface="Freesentation-4Regular"/>
                          <a:ea typeface="Freesentation-4Regular"/>
                          <a:cs typeface="Freesentation-4Regular"/>
                        </a:rPr>
                        <a:t>NDA 검토</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표준 NDA·유사 사례를 비교한</a:t>
                      </a:r>
                    </a:p>
                    <a:p>
                      <a:r>
                        <a:rPr sz="2025" b="0">
                          <a:solidFill>
                            <a:srgbClr val="262626"/>
                          </a:solidFill>
                          <a:latin typeface="Freesentation-4Regular"/>
                          <a:ea typeface="Freesentation-4Regular"/>
                          <a:cs typeface="Freesentation-4Regular"/>
                        </a:rPr>
                        <a:t>PDF 검토서</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계약서 검토 초안과</a:t>
                      </a:r>
                    </a:p>
                    <a:p>
                      <a:r>
                        <a:rPr sz="2025" b="0">
                          <a:solidFill>
                            <a:srgbClr val="262626"/>
                          </a:solidFill>
                          <a:latin typeface="Freesentation-4Regular"/>
                          <a:ea typeface="Freesentation-4Regular"/>
                          <a:cs typeface="Freesentation-4Regular"/>
                        </a:rPr>
                        <a:t>준법 검토 근거 정리</a:t>
                      </a:r>
                    </a:p>
                  </a:txBody>
                  <a:tcPr marL="91440" marR="91440" marT="45720" marB="45720">
                    <a:solidFill>
                      <a:srgbClr val="FFFFFF"/>
                    </a:solidFill>
                  </a:tcPr>
                </a:tc>
              </a:tr>
              <a:tr h="981075">
                <a:tc>
                  <a:txBody>
                    <a:bodyPr/>
                    <a:lstStyle/>
                    <a:p>
                      <a:r>
                        <a:rPr sz="2025" b="1">
                          <a:solidFill>
                            <a:srgbClr val="67519E"/>
                          </a:solidFill>
                          <a:latin typeface="Freesentation-4Regular"/>
                          <a:ea typeface="Freesentation-4Regular"/>
                          <a:cs typeface="Freesentation-4Regular"/>
                        </a:rPr>
                        <a:t>감사보고서 기반 양식 작성</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원문에서 자산·자본·부채를 찾아</a:t>
                      </a:r>
                    </a:p>
                    <a:p>
                      <a:r>
                        <a:rPr sz="2025" b="0">
                          <a:solidFill>
                            <a:srgbClr val="262626"/>
                          </a:solidFill>
                          <a:latin typeface="Freesentation-4Regular"/>
                          <a:ea typeface="Freesentation-4Regular"/>
                          <a:cs typeface="Freesentation-4Regular"/>
                        </a:rPr>
                        <a:t>재무제표 엑셀 양식 작성</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기업 분석·투자 검토용</a:t>
                      </a:r>
                    </a:p>
                    <a:p>
                      <a:r>
                        <a:rPr sz="2025" b="0">
                          <a:solidFill>
                            <a:srgbClr val="262626"/>
                          </a:solidFill>
                          <a:latin typeface="Freesentation-4Regular"/>
                          <a:ea typeface="Freesentation-4Regular"/>
                          <a:cs typeface="Freesentation-4Regular"/>
                        </a:rPr>
                        <a:t>재무 자료의 양식 입력</a:t>
                      </a:r>
                    </a:p>
                  </a:txBody>
                  <a:tcPr marL="91440" marR="91440" marT="45720" marB="45720">
                    <a:solidFill>
                      <a:srgbClr val="F6F8F9"/>
                    </a:solidFill>
                  </a:tcPr>
                </a:tc>
              </a:tr>
              <a:tr h="981075">
                <a:tc>
                  <a:txBody>
                    <a:bodyPr/>
                    <a:lstStyle/>
                    <a:p>
                      <a:r>
                        <a:rPr sz="2025" b="1">
                          <a:solidFill>
                            <a:srgbClr val="67519E"/>
                          </a:solidFill>
                          <a:latin typeface="Freesentation-4Regular"/>
                          <a:ea typeface="Freesentation-4Regular"/>
                          <a:cs typeface="Freesentation-4Regular"/>
                        </a:rPr>
                        <a:t>RFI 영한 번역</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원전 정보요청서의</a:t>
                      </a:r>
                    </a:p>
                    <a:p>
                      <a:r>
                        <a:rPr sz="2025" b="0">
                          <a:solidFill>
                            <a:srgbClr val="262626"/>
                          </a:solidFill>
                          <a:latin typeface="Freesentation-4Regular"/>
                          <a:ea typeface="Freesentation-4Regular"/>
                          <a:cs typeface="Freesentation-4Regular"/>
                        </a:rPr>
                        <a:t>파트별 번역 문서</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해외 투자·사업 자료의</a:t>
                      </a:r>
                    </a:p>
                    <a:p>
                      <a:r>
                        <a:rPr sz="2025" b="0">
                          <a:solidFill>
                            <a:srgbClr val="262626"/>
                          </a:solidFill>
                          <a:latin typeface="Freesentation-4Regular"/>
                          <a:ea typeface="Freesentation-4Regular"/>
                          <a:cs typeface="Freesentation-4Regular"/>
                        </a:rPr>
                        <a:t>검토용 번역 초안</a:t>
                      </a:r>
                    </a:p>
                  </a:txBody>
                  <a:tcPr marL="91440" marR="91440" marT="45720" marB="45720">
                    <a:solidFill>
                      <a:srgbClr val="FFFFFF"/>
                    </a:solidFill>
                  </a:tcPr>
                </a:tc>
              </a:tr>
              <a:tr h="981075">
                <a:tc>
                  <a:txBody>
                    <a:bodyPr/>
                    <a:lstStyle/>
                    <a:p>
                      <a:r>
                        <a:rPr sz="2025" b="1">
                          <a:solidFill>
                            <a:srgbClr val="67519E"/>
                          </a:solidFill>
                          <a:latin typeface="Freesentation-4Regular"/>
                          <a:ea typeface="Freesentation-4Regular"/>
                          <a:cs typeface="Freesentation-4Regular"/>
                        </a:rPr>
                        <a:t>계약 조건 비교</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사업별 계약 조건 비교 답변과</a:t>
                      </a:r>
                    </a:p>
                    <a:p>
                      <a:r>
                        <a:rPr sz="2025" b="0">
                          <a:solidFill>
                            <a:srgbClr val="262626"/>
                          </a:solidFill>
                          <a:latin typeface="Freesentation-4Regular"/>
                          <a:ea typeface="Freesentation-4Regular"/>
                          <a:cs typeface="Freesentation-4Regular"/>
                        </a:rPr>
                        <a:t>자료 탐색·실행 활동 확인</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상품·계약별 조건 비교와</a:t>
                      </a:r>
                    </a:p>
                    <a:p>
                      <a:r>
                        <a:rPr sz="2025" b="0">
                          <a:solidFill>
                            <a:srgbClr val="262626"/>
                          </a:solidFill>
                          <a:latin typeface="Freesentation-4Regular"/>
                          <a:ea typeface="Freesentation-4Regular"/>
                          <a:cs typeface="Freesentation-4Regular"/>
                        </a:rPr>
                        <a:t>근거 문서 확인</a:t>
                      </a:r>
                    </a:p>
                  </a:txBody>
                  <a:tcPr marL="91440" marR="91440" marT="45720" marB="45720">
                    <a:solidFill>
                      <a:srgbClr val="F6F8F9"/>
                    </a:solidFill>
                  </a:tcPr>
                </a:tc>
              </a:tr>
            </a:tbl>
          </a:graphicData>
        </a:graphic>
      </p:graphicFrame>
      <p:sp>
        <p:nvSpPr>
          <p:cNvPr id="8" name="text-6umuai-80-702">
            <a:extLst xmlns:a="http://schemas.openxmlformats.org/drawingml/2006/main">
              <a:ext uri="{FF2B5EF4-FFF2-40B4-BE49-F238E27FC236}">
                <a16:creationId xmlns:a16="http://schemas.microsoft.com/office/drawing/2014/main" id="{AC7C5671-8ED9-48DB-81DA-BD8E82083D55}"/>
              </a:ext>
            </a:extLst>
          </p:cNvPr>
          <p:cNvSpPr>
            <a:spLocks xmlns:a="http://schemas.openxmlformats.org/drawingml/2006/main" noGrp="1"/>
          </p:cNvSpPr>
          <p:nvPr/>
        </p:nvSpPr>
        <p:spPr>
          <a:xfrm xmlns:a="http://schemas.openxmlformats.org/drawingml/2006/main">
            <a:off x="762000" y="6686550"/>
            <a:ext cx="1371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정성 성과: 초안 작성 부담 감소, 양식·근거의 일관성, 생성 이력의 감사 추적 지원</a:t>
            </a:r>
          </a:p>
        </p:txBody>
      </p:sp>
      <p:sp>
        <p:nvSpPr>
          <p:cNvPr id="9" name="text-6umuai-80-759">
            <a:extLst xmlns:a="http://schemas.openxmlformats.org/drawingml/2006/main">
              <a:ext uri="{FF2B5EF4-FFF2-40B4-BE49-F238E27FC236}">
                <a16:creationId xmlns:a16="http://schemas.microsoft.com/office/drawing/2014/main" id="{28D4F1D8-5E5B-4C42-AA14-467B8EF213D0}"/>
              </a:ext>
            </a:extLst>
          </p:cNvPr>
          <p:cNvSpPr>
            <a:spLocks xmlns:a="http://schemas.openxmlformats.org/drawingml/2006/main" noGrp="1"/>
          </p:cNvSpPr>
          <p:nvPr/>
        </p:nvSpPr>
        <p:spPr>
          <a:xfrm xmlns:a="http://schemas.openxmlformats.org/drawingml/2006/main">
            <a:off x="762000" y="7229475"/>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86868"/>
                </a:solidFill>
                <a:latin typeface="Freesentation-4Regular"/>
                <a:ea typeface="Freesentation-4Regular"/>
                <a:cs typeface="Freesentation-4Regular"/>
              </a:defRPr>
            </a:pPr>
            <a:r>
              <a:rPr sz="1575" b="0">
                <a:solidFill>
                  <a:srgbClr val="686868"/>
                </a:solidFill>
                <a:latin typeface="Freesentation-4Regular"/>
                <a:ea typeface="Freesentation-4Regular"/>
                <a:cs typeface="Freesentation-4Regular"/>
              </a:rPr>
              <a:t>정량 측정값 미제시 / 시연용 문서·데이터 / 증권 적용은 제안 범위</a:t>
            </a:r>
          </a:p>
        </p:txBody>
      </p:sp>
    </p:spTree>
    <p:extLst>
      <p:ext uri="{BB962C8B-B14F-4D97-AF65-F5344CB8AC3E}">
        <p14:creationId xmlns:p14="http://schemas.microsoft.com/office/powerpoint/2010/main" val="10163548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D62D7DE-9D8F-4981-8DA4-B020BAB5979F}"/>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ccjswa-74-44">
            <a:extLst xmlns:a="http://schemas.openxmlformats.org/drawingml/2006/main">
              <a:ext uri="{FF2B5EF4-FFF2-40B4-BE49-F238E27FC236}">
                <a16:creationId xmlns:a16="http://schemas.microsoft.com/office/drawing/2014/main" id="{BD3B22C5-FD89-433E-9584-9F66B87EE5EC}"/>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정형데이터와 문서의 의미 연결</a:t>
            </a:r>
          </a:p>
        </p:txBody>
      </p:sp>
      <p:sp>
        <p:nvSpPr>
          <p:cNvPr id="3" name="text-ccjswa-74-131">
            <a:extLst xmlns:a="http://schemas.openxmlformats.org/drawingml/2006/main">
              <a:ext uri="{FF2B5EF4-FFF2-40B4-BE49-F238E27FC236}">
                <a16:creationId xmlns:a16="http://schemas.microsoft.com/office/drawing/2014/main" id="{2BDBC594-8F9D-4037-B946-2FA5627AC38A}"/>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Ontology Studio에서 업무 개념과 원천 매핑을 함께 관리</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9224a786a664eb2"/>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ccjswa-80-841">
            <a:extLst xmlns:a="http://schemas.openxmlformats.org/drawingml/2006/main">
              <a:ext uri="{FF2B5EF4-FFF2-40B4-BE49-F238E27FC236}">
                <a16:creationId xmlns:a16="http://schemas.microsoft.com/office/drawing/2014/main" id="{0EF379B3-D547-4AC6-822E-C8352D365CA7}"/>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03 주요 기능</a:t>
            </a:r>
          </a:p>
        </p:txBody>
      </p:sp>
      <p:sp>
        <p:nvSpPr>
          <p:cNvPr id="6" name="text-ccjswa-1470-839">
            <a:extLst xmlns:a="http://schemas.openxmlformats.org/drawingml/2006/main">
              <a:ext uri="{FF2B5EF4-FFF2-40B4-BE49-F238E27FC236}">
                <a16:creationId xmlns:a16="http://schemas.microsoft.com/office/drawing/2014/main" id="{3ED64E57-4633-4BB7-A99A-0437FBC219ED}"/>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10</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80b635848d94847"/>
          <a:stretch xmlns:a="http://schemas.openxmlformats.org/drawingml/2006/main"/>
        </p:blipFill>
        <p:spPr>
          <a:xfrm xmlns:a="http://schemas.openxmlformats.org/drawingml/2006/main">
            <a:off x="1051448" y="2095500"/>
            <a:ext cx="9231855" cy="4905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02ADDEB-B582-416D-887F-B4C64B2846B7}"/>
              </a:ext>
            </a:extLst>
          </p:cNvPr>
          <p:cNvSpPr>
            <a:spLocks xmlns:a="http://schemas.openxmlformats.org/drawingml/2006/main" noGrp="1"/>
          </p:cNvSpPr>
          <p:nvPr/>
        </p:nvSpPr>
        <p:spPr>
          <a:xfrm xmlns:a="http://schemas.openxmlformats.org/drawingml/2006/main">
            <a:off x="10953750" y="2219325"/>
            <a:ext cx="342900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9" name="text-ccjswa-1165-242">
            <a:extLst xmlns:a="http://schemas.openxmlformats.org/drawingml/2006/main">
              <a:ext uri="{FF2B5EF4-FFF2-40B4-BE49-F238E27FC236}">
                <a16:creationId xmlns:a16="http://schemas.microsoft.com/office/drawing/2014/main" id="{A596E207-76F3-4290-B5FB-646CDE7126FD}"/>
              </a:ext>
            </a:extLst>
          </p:cNvPr>
          <p:cNvSpPr>
            <a:spLocks xmlns:a="http://schemas.openxmlformats.org/drawingml/2006/main" noGrp="1"/>
          </p:cNvSpPr>
          <p:nvPr/>
        </p:nvSpPr>
        <p:spPr>
          <a:xfrm xmlns:a="http://schemas.openxmlformats.org/drawingml/2006/main">
            <a:off x="11096625" y="2305050"/>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정형데이터</a:t>
            </a:r>
          </a:p>
        </p:txBody>
      </p:sp>
      <p:sp>
        <p:nvSpPr>
          <p:cNvPr id="10" name="text-ccjswa-1165-293">
            <a:extLst xmlns:a="http://schemas.openxmlformats.org/drawingml/2006/main">
              <a:ext uri="{FF2B5EF4-FFF2-40B4-BE49-F238E27FC236}">
                <a16:creationId xmlns:a16="http://schemas.microsoft.com/office/drawing/2014/main" id="{BC666AD5-F5BD-496A-B67D-733E316103DC}"/>
              </a:ext>
            </a:extLst>
          </p:cNvPr>
          <p:cNvSpPr>
            <a:spLocks xmlns:a="http://schemas.openxmlformats.org/drawingml/2006/main" noGrp="1"/>
          </p:cNvSpPr>
          <p:nvPr/>
        </p:nvSpPr>
        <p:spPr>
          <a:xfrm xmlns:a="http://schemas.openxmlformats.org/drawingml/2006/main">
            <a:off x="11096625" y="2790825"/>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테이블·컬럼을 업무 속성에 연결</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관계에는 조인 키를 명시</a:t>
            </a:r>
          </a:p>
        </p:txBody>
      </p:sp>
      <p:sp>
        <p:nvSpPr>
          <p:cNvPr id="11" name="">
            <a:extLst xmlns:a="http://schemas.openxmlformats.org/drawingml/2006/main">
              <a:ext uri="{FF2B5EF4-FFF2-40B4-BE49-F238E27FC236}">
                <a16:creationId xmlns:a16="http://schemas.microsoft.com/office/drawing/2014/main" id="{0DC53973-33E0-4FE3-8F7C-A6D3B68B3E4E}"/>
              </a:ext>
            </a:extLst>
          </p:cNvPr>
          <p:cNvSpPr>
            <a:spLocks xmlns:a="http://schemas.openxmlformats.org/drawingml/2006/main" noGrp="1"/>
          </p:cNvSpPr>
          <p:nvPr/>
        </p:nvSpPr>
        <p:spPr>
          <a:xfrm xmlns:a="http://schemas.openxmlformats.org/drawingml/2006/main">
            <a:off x="10953750" y="4067175"/>
            <a:ext cx="342900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2" name="text-ccjswa-1165-436">
            <a:extLst xmlns:a="http://schemas.openxmlformats.org/drawingml/2006/main">
              <a:ext uri="{FF2B5EF4-FFF2-40B4-BE49-F238E27FC236}">
                <a16:creationId xmlns:a16="http://schemas.microsoft.com/office/drawing/2014/main" id="{AC83A2A4-D40A-40A2-98C8-0DF369C96D3D}"/>
              </a:ext>
            </a:extLst>
          </p:cNvPr>
          <p:cNvSpPr>
            <a:spLocks xmlns:a="http://schemas.openxmlformats.org/drawingml/2006/main" noGrp="1"/>
          </p:cNvSpPr>
          <p:nvPr/>
        </p:nvSpPr>
        <p:spPr>
          <a:xfrm xmlns:a="http://schemas.openxmlformats.org/drawingml/2006/main">
            <a:off x="11096625" y="4152900"/>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비정형 문서</a:t>
            </a:r>
          </a:p>
        </p:txBody>
      </p:sp>
      <p:sp>
        <p:nvSpPr>
          <p:cNvPr id="13" name="text-ccjswa-1165-487">
            <a:extLst xmlns:a="http://schemas.openxmlformats.org/drawingml/2006/main">
              <a:ext uri="{FF2B5EF4-FFF2-40B4-BE49-F238E27FC236}">
                <a16:creationId xmlns:a16="http://schemas.microsoft.com/office/drawing/2014/main" id="{57EB0C1C-CD13-46F2-B779-94C7DD556A63}"/>
              </a:ext>
            </a:extLst>
          </p:cNvPr>
          <p:cNvSpPr>
            <a:spLocks xmlns:a="http://schemas.openxmlformats.org/drawingml/2006/main" noGrp="1"/>
          </p:cNvSpPr>
          <p:nvPr/>
        </p:nvSpPr>
        <p:spPr>
          <a:xfrm xmlns:a="http://schemas.openxmlformats.org/drawingml/2006/main">
            <a:off x="11096625" y="4638675"/>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문서의 개념·조항·관계를 추출</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업무 규칙의 근거로 연결</a:t>
            </a:r>
          </a:p>
        </p:txBody>
      </p:sp>
      <p:sp>
        <p:nvSpPr>
          <p:cNvPr id="14" name="text-ccjswa-1150-651">
            <a:extLst xmlns:a="http://schemas.openxmlformats.org/drawingml/2006/main">
              <a:ext uri="{FF2B5EF4-FFF2-40B4-BE49-F238E27FC236}">
                <a16:creationId xmlns:a16="http://schemas.microsoft.com/office/drawing/2014/main" id="{577A0009-C84C-4ACC-86E6-134365BE344B}"/>
              </a:ext>
            </a:extLst>
          </p:cNvPr>
          <p:cNvSpPr>
            <a:spLocks xmlns:a="http://schemas.openxmlformats.org/drawingml/2006/main" noGrp="1"/>
          </p:cNvSpPr>
          <p:nvPr/>
        </p:nvSpPr>
        <p:spPr>
          <a:xfrm xmlns:a="http://schemas.openxmlformats.org/drawingml/2006/main">
            <a:off x="10953750" y="62007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대표 질문으로 연결 결과를 검증</a:t>
            </a:r>
          </a:p>
        </p:txBody>
      </p:sp>
    </p:spTree>
    <p:extLst>
      <p:ext uri="{BB962C8B-B14F-4D97-AF65-F5344CB8AC3E}">
        <p14:creationId xmlns:p14="http://schemas.microsoft.com/office/powerpoint/2010/main" val="999709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71A61ED-F2CF-45F9-A695-3AACE507F312}"/>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a0aa3i-74-44">
            <a:extLst xmlns:a="http://schemas.openxmlformats.org/drawingml/2006/main">
              <a:ext uri="{FF2B5EF4-FFF2-40B4-BE49-F238E27FC236}">
                <a16:creationId xmlns:a16="http://schemas.microsoft.com/office/drawing/2014/main" id="{9BF72DD5-8108-4F3B-8291-EA0B47147645}"/>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근거 조회를 업무 실행에 연결</a:t>
            </a:r>
          </a:p>
        </p:txBody>
      </p:sp>
      <p:sp>
        <p:nvSpPr>
          <p:cNvPr id="3" name="text-a0aa3i-74-131">
            <a:extLst xmlns:a="http://schemas.openxmlformats.org/drawingml/2006/main">
              <a:ext uri="{FF2B5EF4-FFF2-40B4-BE49-F238E27FC236}">
                <a16:creationId xmlns:a16="http://schemas.microsoft.com/office/drawing/2014/main" id="{2C04B129-8B62-4DA5-894D-8FBE38B131BF}"/>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Process GPT가 사람과 에이전트의 담당 업무를 구분</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f81e3d4d8634c7a"/>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a0aa3i-80-841">
            <a:extLst xmlns:a="http://schemas.openxmlformats.org/drawingml/2006/main">
              <a:ext uri="{FF2B5EF4-FFF2-40B4-BE49-F238E27FC236}">
                <a16:creationId xmlns:a16="http://schemas.microsoft.com/office/drawing/2014/main" id="{4037DBC3-45E0-43E8-9501-F946D9E58202}"/>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03 주요 기능</a:t>
            </a:r>
          </a:p>
        </p:txBody>
      </p:sp>
      <p:sp>
        <p:nvSpPr>
          <p:cNvPr id="6" name="text-a0aa3i-1470-839">
            <a:extLst xmlns:a="http://schemas.openxmlformats.org/drawingml/2006/main">
              <a:ext uri="{FF2B5EF4-FFF2-40B4-BE49-F238E27FC236}">
                <a16:creationId xmlns:a16="http://schemas.microsoft.com/office/drawing/2014/main" id="{EC93EA5E-2B5A-4E5F-9164-47FC389B047D}"/>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e6be21f1cfd4402"/>
          <a:stretch xmlns:a="http://schemas.openxmlformats.org/drawingml/2006/main"/>
        </p:blipFill>
        <p:spPr>
          <a:xfrm xmlns:a="http://schemas.openxmlformats.org/drawingml/2006/main">
            <a:off x="1307042" y="2095500"/>
            <a:ext cx="8720667" cy="4905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2FC64A2-3533-4B2F-AE6E-299AECA3F549}"/>
              </a:ext>
            </a:extLst>
          </p:cNvPr>
          <p:cNvSpPr>
            <a:spLocks xmlns:a="http://schemas.openxmlformats.org/drawingml/2006/main" noGrp="1"/>
          </p:cNvSpPr>
          <p:nvPr/>
        </p:nvSpPr>
        <p:spPr>
          <a:xfrm xmlns:a="http://schemas.openxmlformats.org/drawingml/2006/main">
            <a:off x="10953750" y="2171700"/>
            <a:ext cx="35242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9" name="text-a0aa3i-1165-237">
            <a:extLst xmlns:a="http://schemas.openxmlformats.org/drawingml/2006/main">
              <a:ext uri="{FF2B5EF4-FFF2-40B4-BE49-F238E27FC236}">
                <a16:creationId xmlns:a16="http://schemas.microsoft.com/office/drawing/2014/main" id="{8D93D29B-9216-4D84-AF6D-619AFC50B339}"/>
              </a:ext>
            </a:extLst>
          </p:cNvPr>
          <p:cNvSpPr>
            <a:spLocks xmlns:a="http://schemas.openxmlformats.org/drawingml/2006/main" noGrp="1"/>
          </p:cNvSpPr>
          <p:nvPr/>
        </p:nvSpPr>
        <p:spPr>
          <a:xfrm xmlns:a="http://schemas.openxmlformats.org/drawingml/2006/main">
            <a:off x="11096625" y="225742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에이전트가 수행</a:t>
            </a:r>
          </a:p>
        </p:txBody>
      </p:sp>
      <p:sp>
        <p:nvSpPr>
          <p:cNvPr id="10" name="text-a0aa3i-1165-288">
            <a:extLst xmlns:a="http://schemas.openxmlformats.org/drawingml/2006/main">
              <a:ext uri="{FF2B5EF4-FFF2-40B4-BE49-F238E27FC236}">
                <a16:creationId xmlns:a16="http://schemas.microsoft.com/office/drawing/2014/main" id="{93812F52-A98B-44CE-BE15-C53D52B17EB9}"/>
              </a:ext>
            </a:extLst>
          </p:cNvPr>
          <p:cNvSpPr>
            <a:spLocks xmlns:a="http://schemas.openxmlformats.org/drawingml/2006/main" noGrp="1"/>
          </p:cNvSpPr>
          <p:nvPr/>
        </p:nvSpPr>
        <p:spPr>
          <a:xfrm xmlns:a="http://schemas.openxmlformats.org/drawingml/2006/main">
            <a:off x="11096625" y="274320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고객·보유 확인</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편입 한도 심사</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고객 안내문 작성</a:t>
            </a:r>
          </a:p>
        </p:txBody>
      </p:sp>
      <p:sp>
        <p:nvSpPr>
          <p:cNvPr id="11" name="">
            <a:extLst xmlns:a="http://schemas.openxmlformats.org/drawingml/2006/main">
              <a:ext uri="{FF2B5EF4-FFF2-40B4-BE49-F238E27FC236}">
                <a16:creationId xmlns:a16="http://schemas.microsoft.com/office/drawing/2014/main" id="{EFFA6BFE-E753-4951-86F0-75ADB902649B}"/>
              </a:ext>
            </a:extLst>
          </p:cNvPr>
          <p:cNvSpPr>
            <a:spLocks xmlns:a="http://schemas.openxmlformats.org/drawingml/2006/main" noGrp="1"/>
          </p:cNvSpPr>
          <p:nvPr/>
        </p:nvSpPr>
        <p:spPr>
          <a:xfrm xmlns:a="http://schemas.openxmlformats.org/drawingml/2006/main">
            <a:off x="10953750" y="4448175"/>
            <a:ext cx="35242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2" name="text-a0aa3i-1165-476">
            <a:extLst xmlns:a="http://schemas.openxmlformats.org/drawingml/2006/main">
              <a:ext uri="{FF2B5EF4-FFF2-40B4-BE49-F238E27FC236}">
                <a16:creationId xmlns:a16="http://schemas.microsoft.com/office/drawing/2014/main" id="{4D9A5A1D-B88A-4E3A-A8AB-BF173070BEE0}"/>
              </a:ext>
            </a:extLst>
          </p:cNvPr>
          <p:cNvSpPr>
            <a:spLocks xmlns:a="http://schemas.openxmlformats.org/drawingml/2006/main" noGrp="1"/>
          </p:cNvSpPr>
          <p:nvPr/>
        </p:nvSpPr>
        <p:spPr>
          <a:xfrm xmlns:a="http://schemas.openxmlformats.org/drawingml/2006/main">
            <a:off x="11096625" y="453390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사람이 결정</a:t>
            </a:r>
          </a:p>
        </p:txBody>
      </p:sp>
      <p:sp>
        <p:nvSpPr>
          <p:cNvPr id="13" name="text-a0aa3i-1165-527">
            <a:extLst xmlns:a="http://schemas.openxmlformats.org/drawingml/2006/main">
              <a:ext uri="{FF2B5EF4-FFF2-40B4-BE49-F238E27FC236}">
                <a16:creationId xmlns:a16="http://schemas.microsoft.com/office/drawing/2014/main" id="{5B04FCC2-D731-4573-BC52-215D6604CC92}"/>
              </a:ext>
            </a:extLst>
          </p:cNvPr>
          <p:cNvSpPr>
            <a:spLocks xmlns:a="http://schemas.openxmlformats.org/drawingml/2006/main" noGrp="1"/>
          </p:cNvSpPr>
          <p:nvPr/>
        </p:nvSpPr>
        <p:spPr>
          <a:xfrm xmlns:a="http://schemas.openxmlformats.org/drawingml/2006/main">
            <a:off x="11096625" y="5019675"/>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준법감시 담당자가</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근거를 검토하고 승인·반려</a:t>
            </a:r>
          </a:p>
        </p:txBody>
      </p:sp>
      <p:sp>
        <p:nvSpPr>
          <p:cNvPr id="14" name="text-a0aa3i-1150-692">
            <a:extLst xmlns:a="http://schemas.openxmlformats.org/drawingml/2006/main">
              <a:ext uri="{FF2B5EF4-FFF2-40B4-BE49-F238E27FC236}">
                <a16:creationId xmlns:a16="http://schemas.microsoft.com/office/drawing/2014/main" id="{A60A6D44-5676-445E-B40F-318DB9520F5B}"/>
              </a:ext>
            </a:extLst>
          </p:cNvPr>
          <p:cNvSpPr>
            <a:spLocks xmlns:a="http://schemas.openxmlformats.org/drawingml/2006/main" noGrp="1"/>
          </p:cNvSpPr>
          <p:nvPr/>
        </p:nvSpPr>
        <p:spPr>
          <a:xfrm xmlns:a="http://schemas.openxmlformats.org/drawingml/2006/main">
            <a:off x="10953750" y="65913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86868"/>
                </a:solidFill>
                <a:latin typeface="Freesentation-4Regular"/>
                <a:ea typeface="Freesentation-4Regular"/>
                <a:cs typeface="Freesentation-4Regular"/>
              </a:defRPr>
            </a:pPr>
            <a:r>
              <a:rPr sz="1650" b="0">
                <a:solidFill>
                  <a:srgbClr val="686868"/>
                </a:solidFill>
                <a:latin typeface="Freesentation-4Regular"/>
                <a:ea typeface="Freesentation-4Regular"/>
                <a:cs typeface="Freesentation-4Regular"/>
              </a:rPr>
              <a:t>실제 제품 화면 / 증권 샘플</a:t>
            </a:r>
          </a:p>
        </p:txBody>
      </p:sp>
    </p:spTree>
    <p:extLst>
      <p:ext uri="{BB962C8B-B14F-4D97-AF65-F5344CB8AC3E}">
        <p14:creationId xmlns:p14="http://schemas.microsoft.com/office/powerpoint/2010/main" val="5051694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EDF1E9-A86B-4199-80B4-3BF95988ECB2}"/>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tts44q-74-44">
            <a:extLst xmlns:a="http://schemas.openxmlformats.org/drawingml/2006/main">
              <a:ext uri="{FF2B5EF4-FFF2-40B4-BE49-F238E27FC236}">
                <a16:creationId xmlns:a16="http://schemas.microsoft.com/office/drawing/2014/main" id="{675442DB-C88F-46D7-836F-2CF50E11C978}"/>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생성·매핑의 자동화 범위와 사용자 검수</a:t>
            </a:r>
          </a:p>
        </p:txBody>
      </p:sp>
      <p:sp>
        <p:nvSpPr>
          <p:cNvPr id="3" name="text-tts44q-74-131">
            <a:extLst xmlns:a="http://schemas.openxmlformats.org/drawingml/2006/main">
              <a:ext uri="{FF2B5EF4-FFF2-40B4-BE49-F238E27FC236}">
                <a16:creationId xmlns:a16="http://schemas.microsoft.com/office/drawing/2014/main" id="{6EC37410-04DF-4F67-8AC7-70B32F5B2702}"/>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자동 생성 결과는 업무 의미와 대표 질의로 검증합니다</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be799cda3fb4e5b"/>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tts44q-80-841">
            <a:extLst xmlns:a="http://schemas.openxmlformats.org/drawingml/2006/main">
              <a:ext uri="{FF2B5EF4-FFF2-40B4-BE49-F238E27FC236}">
                <a16:creationId xmlns:a16="http://schemas.microsoft.com/office/drawing/2014/main" id="{5A8D7F6F-94A4-45DF-8D9A-1D617C8DF583}"/>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04 사전 질의 상세 · Q1–Q2</a:t>
            </a:r>
          </a:p>
        </p:txBody>
      </p:sp>
      <p:sp>
        <p:nvSpPr>
          <p:cNvPr id="6" name="text-tts44q-1470-839">
            <a:extLst xmlns:a="http://schemas.openxmlformats.org/drawingml/2006/main">
              <a:ext uri="{FF2B5EF4-FFF2-40B4-BE49-F238E27FC236}">
                <a16:creationId xmlns:a16="http://schemas.microsoft.com/office/drawing/2014/main" id="{E10DF7FC-02A9-47F3-9515-4AC321BCCA4D}"/>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12</a:t>
            </a:r>
          </a:p>
        </p:txBody>
      </p:sp>
      <p:graphicFrame>
        <p:nvGraphicFramePr>
          <p:cNvPr id="15" name=""/>
          <p:cNvGraphicFramePr/>
          <p:nvPr/>
        </p:nvGraphicFramePr>
        <p:xfrm>
          <a:off xmlns:a="http://schemas.openxmlformats.org/drawingml/2006/main" x="762000" y="2190750"/>
          <a:ext xmlns:a="http://schemas.openxmlformats.org/drawingml/2006/main" cx="13716000" cy="4210050"/>
        </p:xfrm>
        <a:graphic xmlns:a="http://schemas.openxmlformats.org/drawingml/2006/main">
          <a:graphicData uri="http://schemas.openxmlformats.org/drawingml/2006/table">
            <a:tbl>
              <a:tblPr/>
              <a:tblGrid>
                <a:gridCol w="3238500"/>
                <a:gridCol w="5238750"/>
                <a:gridCol w="5238750"/>
              </a:tblGrid>
              <a:tr h="609600">
                <a:tc>
                  <a:txBody>
                    <a:bodyPr/>
                    <a:lstStyle/>
                    <a:p>
                      <a:r>
                        <a:rPr sz="1800" b="1">
                          <a:solidFill>
                            <a:srgbClr val="FFFFFF"/>
                          </a:solidFill>
                          <a:latin typeface="Freesentation-4Regular"/>
                          <a:ea typeface="Freesentation-4Regular"/>
                          <a:cs typeface="Freesentation-4Regular"/>
                        </a:rPr>
                        <a:t>대상</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자동화하는 부분</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사용자가 확정할 부분</a:t>
                      </a:r>
                    </a:p>
                  </a:txBody>
                  <a:tcPr marL="91440" marR="91440" marT="45720" marB="45720">
                    <a:solidFill>
                      <a:srgbClr val="67519E"/>
                    </a:solidFill>
                  </a:tcPr>
                </a:tc>
              </a:tr>
              <a:tr h="1200150">
                <a:tc>
                  <a:txBody>
                    <a:bodyPr/>
                    <a:lstStyle/>
                    <a:p>
                      <a:r>
                        <a:rPr sz="2025" b="1">
                          <a:solidFill>
                            <a:srgbClr val="67519E"/>
                          </a:solidFill>
                          <a:latin typeface="Freesentation-4Regular"/>
                          <a:ea typeface="Freesentation-4Regular"/>
                          <a:cs typeface="Freesentation-4Regular"/>
                        </a:rPr>
                        <a:t>DB Schema / Column</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카탈로그 탐색, 클래스·속성 후보</a:t>
                      </a:r>
                    </a:p>
                    <a:p>
                      <a:r>
                        <a:rPr sz="2025" b="0">
                          <a:solidFill>
                            <a:srgbClr val="262626"/>
                          </a:solidFill>
                          <a:latin typeface="Freesentation-4Regular"/>
                          <a:ea typeface="Freesentation-4Regular"/>
                          <a:cs typeface="Freesentation-4Regular"/>
                        </a:rPr>
                        <a:t>컬럼 바인딩과 조인 관계 제안</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업무 용어, 식별 키, 조인 조건</a:t>
                      </a:r>
                    </a:p>
                    <a:p>
                      <a:r>
                        <a:rPr sz="2025" b="0">
                          <a:solidFill>
                            <a:srgbClr val="262626"/>
                          </a:solidFill>
                          <a:latin typeface="Freesentation-4Regular"/>
                          <a:ea typeface="Freesentation-4Regular"/>
                          <a:cs typeface="Freesentation-4Regular"/>
                        </a:rPr>
                        <a:t>민감정보와 조회 범위</a:t>
                      </a:r>
                    </a:p>
                  </a:txBody>
                  <a:tcPr marL="91440" marR="91440" marT="45720" marB="45720">
                    <a:solidFill>
                      <a:srgbClr val="FFFFFF"/>
                    </a:solidFill>
                  </a:tcPr>
                </a:tc>
              </a:tr>
              <a:tr h="1200150">
                <a:tc>
                  <a:txBody>
                    <a:bodyPr/>
                    <a:lstStyle/>
                    <a:p>
                      <a:r>
                        <a:rPr sz="2025" b="1">
                          <a:solidFill>
                            <a:srgbClr val="67519E"/>
                          </a:solidFill>
                          <a:latin typeface="Freesentation-4Regular"/>
                          <a:ea typeface="Freesentation-4Regular"/>
                          <a:cs typeface="Freesentation-4Regular"/>
                        </a:rPr>
                        <a:t>비정형 문서</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문서 파싱, 개념·관계 추출</a:t>
                      </a:r>
                    </a:p>
                    <a:p>
                      <a:r>
                        <a:rPr sz="2025" b="0">
                          <a:solidFill>
                            <a:srgbClr val="262626"/>
                          </a:solidFill>
                          <a:latin typeface="Freesentation-4Regular"/>
                          <a:ea typeface="Freesentation-4Regular"/>
                          <a:cs typeface="Freesentation-4Regular"/>
                        </a:rPr>
                        <a:t>조항·버전·예외 연결 구성</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조항 경계와 적용기간</a:t>
                      </a:r>
                    </a:p>
                    <a:p>
                      <a:r>
                        <a:rPr sz="2025" b="0">
                          <a:solidFill>
                            <a:srgbClr val="262626"/>
                          </a:solidFill>
                          <a:latin typeface="Freesentation-4Regular"/>
                          <a:ea typeface="Freesentation-4Regular"/>
                          <a:cs typeface="Freesentation-4Regular"/>
                        </a:rPr>
                        <a:t>우선순위·예외의 업무 해석</a:t>
                      </a:r>
                    </a:p>
                  </a:txBody>
                  <a:tcPr marL="91440" marR="91440" marT="45720" marB="45720">
                    <a:solidFill>
                      <a:srgbClr val="F6F8F9"/>
                    </a:solidFill>
                  </a:tcPr>
                </a:tc>
              </a:tr>
              <a:tr h="1200150">
                <a:tc>
                  <a:txBody>
                    <a:bodyPr/>
                    <a:lstStyle/>
                    <a:p>
                      <a:r>
                        <a:rPr sz="2025" b="1">
                          <a:solidFill>
                            <a:srgbClr val="67519E"/>
                          </a:solidFill>
                          <a:latin typeface="Freesentation-4Regular"/>
                          <a:ea typeface="Freesentation-4Regular"/>
                          <a:cs typeface="Freesentation-4Regular"/>
                        </a:rPr>
                        <a:t>Entity / Relation / Property</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스키마와 후보 인스턴스 생성</a:t>
                      </a:r>
                    </a:p>
                    <a:p>
                      <a:r>
                        <a:rPr sz="2025" b="0">
                          <a:solidFill>
                            <a:srgbClr val="262626"/>
                          </a:solidFill>
                          <a:latin typeface="Freesentation-4Regular"/>
                          <a:ea typeface="Freesentation-4Regular"/>
                          <a:cs typeface="Freesentation-4Regular"/>
                        </a:rPr>
                        <a:t>샘플 조회와 대표 질문 검증</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동일 개체 병합 기준</a:t>
                      </a:r>
                    </a:p>
                    <a:p>
                      <a:r>
                        <a:rPr sz="2025" b="0">
                          <a:solidFill>
                            <a:srgbClr val="262626"/>
                          </a:solidFill>
                          <a:latin typeface="Freesentation-4Regular"/>
                          <a:ea typeface="Freesentation-4Regular"/>
                          <a:cs typeface="Freesentation-4Regular"/>
                        </a:rPr>
                        <a:t>오류 수정, 발행 대상 확정</a:t>
                      </a:r>
                    </a:p>
                  </a:txBody>
                  <a:tcPr marL="91440" marR="91440" marT="45720" marB="45720">
                    <a:solidFill>
                      <a:srgbClr val="FFFFFF"/>
                    </a:solidFill>
                  </a:tcPr>
                </a:tc>
              </a:tr>
            </a:tbl>
          </a:graphicData>
        </a:graphic>
      </p:graphicFrame>
      <p:sp>
        <p:nvSpPr>
          <p:cNvPr id="8" name="text-tts44q-80-696">
            <a:extLst xmlns:a="http://schemas.openxmlformats.org/drawingml/2006/main">
              <a:ext uri="{FF2B5EF4-FFF2-40B4-BE49-F238E27FC236}">
                <a16:creationId xmlns:a16="http://schemas.microsoft.com/office/drawing/2014/main" id="{57E54152-25DC-4522-BBEC-744E905F68B8}"/>
              </a:ext>
            </a:extLst>
          </p:cNvPr>
          <p:cNvSpPr>
            <a:spLocks xmlns:a="http://schemas.openxmlformats.org/drawingml/2006/main" noGrp="1"/>
          </p:cNvSpPr>
          <p:nvPr/>
        </p:nvSpPr>
        <p:spPr>
          <a:xfrm xmlns:a="http://schemas.openxmlformats.org/drawingml/2006/main">
            <a:off x="762000" y="6629400"/>
            <a:ext cx="1362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자동 생성률은 문서 형식·데이터 사전·도메인 기준에 따라 표본으로 확인합니다</a:t>
            </a:r>
          </a:p>
        </p:txBody>
      </p:sp>
    </p:spTree>
    <p:extLst>
      <p:ext uri="{BB962C8B-B14F-4D97-AF65-F5344CB8AC3E}">
        <p14:creationId xmlns:p14="http://schemas.microsoft.com/office/powerpoint/2010/main" val="214720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6258AF-FA62-48F6-B8AD-1A3E5CB2F87C}"/>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zxsvw7-74-44">
            <a:extLst xmlns:a="http://schemas.openxmlformats.org/drawingml/2006/main">
              <a:ext uri="{FF2B5EF4-FFF2-40B4-BE49-F238E27FC236}">
                <a16:creationId xmlns:a16="http://schemas.microsoft.com/office/drawing/2014/main" id="{495E58CE-81A9-4507-932C-AE69C6F054D9}"/>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원천 오류·불일치·누락의 검증과 재처리</a:t>
            </a:r>
          </a:p>
        </p:txBody>
      </p:sp>
      <p:sp>
        <p:nvSpPr>
          <p:cNvPr id="3" name="text-zxsvw7-74-131">
            <a:extLst xmlns:a="http://schemas.openxmlformats.org/drawingml/2006/main">
              <a:ext uri="{FF2B5EF4-FFF2-40B4-BE49-F238E27FC236}">
                <a16:creationId xmlns:a16="http://schemas.microsoft.com/office/drawing/2014/main" id="{BFB08413-F06C-47C4-862A-FAD9CFCD216D}"/>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현재 검증 기능 위에 고객사의 데이터 품질 기준을 적용</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5868f618eb54450"/>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zxsvw7-80-841">
            <a:extLst xmlns:a="http://schemas.openxmlformats.org/drawingml/2006/main">
              <a:ext uri="{FF2B5EF4-FFF2-40B4-BE49-F238E27FC236}">
                <a16:creationId xmlns:a16="http://schemas.microsoft.com/office/drawing/2014/main" id="{51D2DFB2-D2CA-483B-B14D-07B213DB7B8D}"/>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04 사전 질의 상세 · Q3</a:t>
            </a:r>
          </a:p>
        </p:txBody>
      </p:sp>
      <p:sp>
        <p:nvSpPr>
          <p:cNvPr id="6" name="text-zxsvw7-1470-839">
            <a:extLst xmlns:a="http://schemas.openxmlformats.org/drawingml/2006/main">
              <a:ext uri="{FF2B5EF4-FFF2-40B4-BE49-F238E27FC236}">
                <a16:creationId xmlns:a16="http://schemas.microsoft.com/office/drawing/2014/main" id="{CC804CE3-E4D5-4AF3-8902-C2CB0296B5C4}"/>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13</a:t>
            </a:r>
          </a:p>
        </p:txBody>
      </p:sp>
      <p:graphicFrame>
        <p:nvGraphicFramePr>
          <p:cNvPr id="14" name=""/>
          <p:cNvGraphicFramePr/>
          <p:nvPr/>
        </p:nvGraphicFramePr>
        <p:xfrm>
          <a:off xmlns:a="http://schemas.openxmlformats.org/drawingml/2006/main" x="762000" y="2114550"/>
          <a:ext xmlns:a="http://schemas.openxmlformats.org/drawingml/2006/main" cx="13716000" cy="4657725"/>
        </p:xfrm>
        <a:graphic xmlns:a="http://schemas.openxmlformats.org/drawingml/2006/main">
          <a:graphicData uri="http://schemas.openxmlformats.org/drawingml/2006/table">
            <a:tbl>
              <a:tblPr/>
              <a:tblGrid>
                <a:gridCol w="3333750"/>
                <a:gridCol w="6286500"/>
                <a:gridCol w="4095750"/>
              </a:tblGrid>
              <a:tr h="609600">
                <a:tc>
                  <a:txBody>
                    <a:bodyPr/>
                    <a:lstStyle/>
                    <a:p>
                      <a:r>
                        <a:rPr sz="1800" b="1">
                          <a:solidFill>
                            <a:srgbClr val="FFFFFF"/>
                          </a:solidFill>
                          <a:latin typeface="Freesentation-4Regular"/>
                          <a:ea typeface="Freesentation-4Regular"/>
                          <a:cs typeface="Freesentation-4Regular"/>
                        </a:rPr>
                        <a:t>발생 유형</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확인·처리 방식</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적용 구분</a:t>
                      </a:r>
                    </a:p>
                  </a:txBody>
                  <a:tcPr marL="91440" marR="91440" marT="45720" marB="45720">
                    <a:solidFill>
                      <a:srgbClr val="67519E"/>
                    </a:solidFill>
                  </a:tcPr>
                </a:tc>
              </a:tr>
              <a:tr h="1012031">
                <a:tc>
                  <a:txBody>
                    <a:bodyPr/>
                    <a:lstStyle/>
                    <a:p>
                      <a:r>
                        <a:rPr sz="1950" b="1">
                          <a:solidFill>
                            <a:srgbClr val="67519E"/>
                          </a:solidFill>
                          <a:latin typeface="Freesentation-4Regular"/>
                          <a:ea typeface="Freesentation-4Regular"/>
                          <a:cs typeface="Freesentation-4Regular"/>
                        </a:rPr>
                        <a:t>컬럼·조인 키 불일치</a:t>
                      </a:r>
                    </a:p>
                  </a:txBody>
                  <a:tcPr marL="91440" marR="91440" marT="45720" marB="45720">
                    <a:solidFill>
                      <a:srgbClr val="F1EDF7"/>
                    </a:solidFill>
                  </a:tcPr>
                </a:tc>
                <a:tc>
                  <a:txBody>
                    <a:bodyPr/>
                    <a:lstStyle/>
                    <a:p>
                      <a:r>
                        <a:rPr sz="1950" b="0">
                          <a:solidFill>
                            <a:srgbClr val="262626"/>
                          </a:solidFill>
                          <a:latin typeface="Freesentation-4Regular"/>
                          <a:ea typeface="Freesentation-4Regular"/>
                          <a:cs typeface="Freesentation-4Regular"/>
                        </a:rPr>
                        <a:t>메타데이터와 바인딩 비교</a:t>
                      </a:r>
                    </a:p>
                    <a:p>
                      <a:r>
                        <a:rPr sz="1950" b="0">
                          <a:solidFill>
                            <a:srgbClr val="262626"/>
                          </a:solidFill>
                          <a:latin typeface="Freesentation-4Regular"/>
                          <a:ea typeface="Freesentation-4Regular"/>
                          <a:cs typeface="Freesentation-4Regular"/>
                        </a:rPr>
                        <a:t>샘플 조회 실패 확인 후 매핑 수정</a:t>
                      </a:r>
                    </a:p>
                  </a:txBody>
                  <a:tcPr marL="91440" marR="91440" marT="45720" marB="45720">
                    <a:solidFill>
                      <a:srgbClr val="FFFFFF"/>
                    </a:solidFill>
                  </a:tcPr>
                </a:tc>
                <a:tc>
                  <a:txBody>
                    <a:bodyPr/>
                    <a:lstStyle/>
                    <a:p>
                      <a:r>
                        <a:rPr sz="1950" b="0">
                          <a:solidFill>
                            <a:srgbClr val="262626"/>
                          </a:solidFill>
                          <a:latin typeface="Freesentation-4Regular"/>
                          <a:ea typeface="Freesentation-4Regular"/>
                          <a:cs typeface="Freesentation-4Regular"/>
                        </a:rPr>
                        <a:t>제품 기능 + 원천별 설정</a:t>
                      </a:r>
                    </a:p>
                  </a:txBody>
                  <a:tcPr marL="91440" marR="91440" marT="45720" marB="45720">
                    <a:solidFill>
                      <a:srgbClr val="FFFFFF"/>
                    </a:solidFill>
                  </a:tcPr>
                </a:tc>
              </a:tr>
              <a:tr h="1012031">
                <a:tc>
                  <a:txBody>
                    <a:bodyPr/>
                    <a:lstStyle/>
                    <a:p>
                      <a:r>
                        <a:rPr sz="1950" b="1">
                          <a:solidFill>
                            <a:srgbClr val="67519E"/>
                          </a:solidFill>
                          <a:latin typeface="Freesentation-4Regular"/>
                          <a:ea typeface="Freesentation-4Regular"/>
                          <a:cs typeface="Freesentation-4Regular"/>
                        </a:rPr>
                        <a:t>필수값 누락·중복</a:t>
                      </a:r>
                    </a:p>
                  </a:txBody>
                  <a:tcPr marL="91440" marR="91440" marT="45720" marB="45720">
                    <a:solidFill>
                      <a:srgbClr val="F1EDF7"/>
                    </a:solidFill>
                  </a:tcPr>
                </a:tc>
                <a:tc>
                  <a:txBody>
                    <a:bodyPr/>
                    <a:lstStyle/>
                    <a:p>
                      <a:r>
                        <a:rPr sz="1950" b="0">
                          <a:solidFill>
                            <a:srgbClr val="262626"/>
                          </a:solidFill>
                          <a:latin typeface="Freesentation-4Regular"/>
                          <a:ea typeface="Freesentation-4Regular"/>
                          <a:cs typeface="Freesentation-4Regular"/>
                        </a:rPr>
                        <a:t>필수·범위·참조·중복 기준 정의</a:t>
                      </a:r>
                    </a:p>
                    <a:p>
                      <a:r>
                        <a:rPr sz="1950" b="0">
                          <a:solidFill>
                            <a:srgbClr val="262626"/>
                          </a:solidFill>
                          <a:latin typeface="Freesentation-4Regular"/>
                          <a:ea typeface="Freesentation-4Regular"/>
                          <a:cs typeface="Freesentation-4Regular"/>
                        </a:rPr>
                        <a:t>문제 레코드와 판단 보류 사유 기록</a:t>
                      </a:r>
                    </a:p>
                  </a:txBody>
                  <a:tcPr marL="91440" marR="91440" marT="45720" marB="45720">
                    <a:solidFill>
                      <a:srgbClr val="F6F8F9"/>
                    </a:solidFill>
                  </a:tcPr>
                </a:tc>
                <a:tc>
                  <a:txBody>
                    <a:bodyPr/>
                    <a:lstStyle/>
                    <a:p>
                      <a:r>
                        <a:rPr sz="1950" b="0">
                          <a:solidFill>
                            <a:srgbClr val="262626"/>
                          </a:solidFill>
                          <a:latin typeface="Freesentation-4Regular"/>
                          <a:ea typeface="Freesentation-4Regular"/>
                          <a:cs typeface="Freesentation-4Regular"/>
                        </a:rPr>
                        <a:t>업무 품질 규칙 추가 구성</a:t>
                      </a:r>
                    </a:p>
                  </a:txBody>
                  <a:tcPr marL="91440" marR="91440" marT="45720" marB="45720">
                    <a:solidFill>
                      <a:srgbClr val="F6F8F9"/>
                    </a:solidFill>
                  </a:tcPr>
                </a:tc>
              </a:tr>
              <a:tr h="1012031">
                <a:tc>
                  <a:txBody>
                    <a:bodyPr/>
                    <a:lstStyle/>
                    <a:p>
                      <a:r>
                        <a:rPr sz="1950" b="1">
                          <a:solidFill>
                            <a:srgbClr val="67519E"/>
                          </a:solidFill>
                          <a:latin typeface="Freesentation-4Regular"/>
                          <a:ea typeface="Freesentation-4Regular"/>
                          <a:cs typeface="Freesentation-4Regular"/>
                        </a:rPr>
                        <a:t>문서와 DB의 값 충돌</a:t>
                      </a:r>
                    </a:p>
                  </a:txBody>
                  <a:tcPr marL="91440" marR="91440" marT="45720" marB="45720">
                    <a:solidFill>
                      <a:srgbClr val="F1EDF7"/>
                    </a:solidFill>
                  </a:tcPr>
                </a:tc>
                <a:tc>
                  <a:txBody>
                    <a:bodyPr/>
                    <a:lstStyle/>
                    <a:p>
                      <a:r>
                        <a:rPr sz="1950" b="0">
                          <a:solidFill>
                            <a:srgbClr val="262626"/>
                          </a:solidFill>
                          <a:latin typeface="Freesentation-4Regular"/>
                          <a:ea typeface="Freesentation-4Regular"/>
                          <a:cs typeface="Freesentation-4Regular"/>
                        </a:rPr>
                        <a:t>적용 시점·근거 조항 확인</a:t>
                      </a:r>
                    </a:p>
                    <a:p>
                      <a:r>
                        <a:rPr sz="1950" b="0">
                          <a:solidFill>
                            <a:srgbClr val="262626"/>
                          </a:solidFill>
                          <a:latin typeface="Freesentation-4Regular"/>
                          <a:ea typeface="Freesentation-4Regular"/>
                          <a:cs typeface="Freesentation-4Regular"/>
                        </a:rPr>
                        <a:t>원천 담당자의 정정과 재검증</a:t>
                      </a:r>
                    </a:p>
                  </a:txBody>
                  <a:tcPr marL="91440" marR="91440" marT="45720" marB="45720">
                    <a:solidFill>
                      <a:srgbClr val="FFFFFF"/>
                    </a:solidFill>
                  </a:tcPr>
                </a:tc>
                <a:tc>
                  <a:txBody>
                    <a:bodyPr/>
                    <a:lstStyle/>
                    <a:p>
                      <a:r>
                        <a:rPr sz="1950" b="0">
                          <a:solidFill>
                            <a:srgbClr val="262626"/>
                          </a:solidFill>
                          <a:latin typeface="Freesentation-4Regular"/>
                          <a:ea typeface="Freesentation-4Regular"/>
                          <a:cs typeface="Freesentation-4Regular"/>
                        </a:rPr>
                        <a:t>샘플 시연 확인 + 운영 절차 구성</a:t>
                      </a:r>
                    </a:p>
                  </a:txBody>
                  <a:tcPr marL="91440" marR="91440" marT="45720" marB="45720">
                    <a:solidFill>
                      <a:srgbClr val="FFFFFF"/>
                    </a:solidFill>
                  </a:tcPr>
                </a:tc>
              </a:tr>
              <a:tr h="1012031">
                <a:tc>
                  <a:txBody>
                    <a:bodyPr/>
                    <a:lstStyle/>
                    <a:p>
                      <a:r>
                        <a:rPr sz="1950" b="1">
                          <a:solidFill>
                            <a:srgbClr val="67519E"/>
                          </a:solidFill>
                          <a:latin typeface="Freesentation-4Regular"/>
                          <a:ea typeface="Freesentation-4Regular"/>
                          <a:cs typeface="Freesentation-4Regular"/>
                        </a:rPr>
                        <a:t>정정 후 재처리</a:t>
                      </a:r>
                    </a:p>
                  </a:txBody>
                  <a:tcPr marL="91440" marR="91440" marT="45720" marB="45720">
                    <a:solidFill>
                      <a:srgbClr val="F1EDF7"/>
                    </a:solidFill>
                  </a:tcPr>
                </a:tc>
                <a:tc>
                  <a:txBody>
                    <a:bodyPr/>
                    <a:lstStyle/>
                    <a:p>
                      <a:r>
                        <a:rPr sz="1950" b="0">
                          <a:solidFill>
                            <a:srgbClr val="262626"/>
                          </a:solidFill>
                          <a:latin typeface="Freesentation-4Regular"/>
                          <a:ea typeface="Freesentation-4Regular"/>
                          <a:cs typeface="Freesentation-4Regular"/>
                        </a:rPr>
                        <a:t>영향 대상 재조회·재추출</a:t>
                      </a:r>
                    </a:p>
                    <a:p>
                      <a:r>
                        <a:rPr sz="1950" b="0">
                          <a:solidFill>
                            <a:srgbClr val="262626"/>
                          </a:solidFill>
                          <a:latin typeface="Freesentation-4Regular"/>
                          <a:ea typeface="Freesentation-4Regular"/>
                          <a:cs typeface="Freesentation-4Regular"/>
                        </a:rPr>
                        <a:t>대표 질문을 다시 실행하고 재발행</a:t>
                      </a:r>
                    </a:p>
                  </a:txBody>
                  <a:tcPr marL="91440" marR="91440" marT="45720" marB="45720">
                    <a:solidFill>
                      <a:srgbClr val="F6F8F9"/>
                    </a:solidFill>
                  </a:tcPr>
                </a:tc>
                <a:tc>
                  <a:txBody>
                    <a:bodyPr/>
                    <a:lstStyle/>
                    <a:p>
                      <a:r>
                        <a:rPr sz="1950" b="0">
                          <a:solidFill>
                            <a:srgbClr val="262626"/>
                          </a:solidFill>
                          <a:latin typeface="Freesentation-4Regular"/>
                          <a:ea typeface="Freesentation-4Regular"/>
                          <a:cs typeface="Freesentation-4Regular"/>
                        </a:rPr>
                        <a:t>수동 검증 가능 / 자동 연쇄는 개발</a:t>
                      </a:r>
                    </a:p>
                  </a:txBody>
                  <a:tcPr marL="91440" marR="91440" marT="45720" marB="45720">
                    <a:solidFill>
                      <a:srgbClr val="F6F8F9"/>
                    </a:solidFill>
                  </a:tcPr>
                </a:tc>
              </a:tr>
            </a:tbl>
          </a:graphicData>
        </a:graphic>
      </p:graphicFrame>
    </p:spTree>
    <p:extLst>
      <p:ext uri="{BB962C8B-B14F-4D97-AF65-F5344CB8AC3E}">
        <p14:creationId xmlns:p14="http://schemas.microsoft.com/office/powerpoint/2010/main" val="1261980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5CA75C2-36DD-4F17-8FF0-5CFFD7C1E8CE}"/>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67qbwc-74-44">
            <a:extLst xmlns:a="http://schemas.openxmlformats.org/drawingml/2006/main">
              <a:ext uri="{FF2B5EF4-FFF2-40B4-BE49-F238E27FC236}">
                <a16:creationId xmlns:a16="http://schemas.microsoft.com/office/drawing/2014/main" id="{5F5FD40A-7BCE-4601-9909-5C397FF3D50D}"/>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버전·이력·변경 영향도 관리</a:t>
            </a:r>
          </a:p>
        </p:txBody>
      </p:sp>
      <p:sp>
        <p:nvSpPr>
          <p:cNvPr id="3" name="text-67qbwc-74-131">
            <a:extLst xmlns:a="http://schemas.openxmlformats.org/drawingml/2006/main">
              <a:ext uri="{FF2B5EF4-FFF2-40B4-BE49-F238E27FC236}">
                <a16:creationId xmlns:a16="http://schemas.microsoft.com/office/drawing/2014/main" id="{983AE654-3E84-459F-B51E-5B1746517689}"/>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스키마 변경과 업무 규칙의 변경을 구분해 관리</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32ee890c7a4413d"/>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67qbwc-80-841">
            <a:extLst xmlns:a="http://schemas.openxmlformats.org/drawingml/2006/main">
              <a:ext uri="{FF2B5EF4-FFF2-40B4-BE49-F238E27FC236}">
                <a16:creationId xmlns:a16="http://schemas.microsoft.com/office/drawing/2014/main" id="{2250A562-0AE6-45E5-B001-38067F1EEBC3}"/>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04 사전 질의 상세 · Q4</a:t>
            </a:r>
          </a:p>
        </p:txBody>
      </p:sp>
      <p:sp>
        <p:nvSpPr>
          <p:cNvPr id="6" name="text-67qbwc-1470-839">
            <a:extLst xmlns:a="http://schemas.openxmlformats.org/drawingml/2006/main">
              <a:ext uri="{FF2B5EF4-FFF2-40B4-BE49-F238E27FC236}">
                <a16:creationId xmlns:a16="http://schemas.microsoft.com/office/drawing/2014/main" id="{5D4F1FB8-D6B9-4901-BFBC-2A7A385E5459}"/>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87487e3202248d6"/>
          <a:stretch xmlns:a="http://schemas.openxmlformats.org/drawingml/2006/main"/>
        </p:blipFill>
        <p:spPr>
          <a:xfrm xmlns:a="http://schemas.openxmlformats.org/drawingml/2006/main">
            <a:off x="1298575" y="2085975"/>
            <a:ext cx="8737600" cy="49149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2F49EE8-387B-41BA-924D-BF43959AFB6C}"/>
              </a:ext>
            </a:extLst>
          </p:cNvPr>
          <p:cNvSpPr>
            <a:spLocks xmlns:a="http://schemas.openxmlformats.org/drawingml/2006/main" noGrp="1"/>
          </p:cNvSpPr>
          <p:nvPr/>
        </p:nvSpPr>
        <p:spPr>
          <a:xfrm xmlns:a="http://schemas.openxmlformats.org/drawingml/2006/main">
            <a:off x="10953750" y="2190750"/>
            <a:ext cx="35242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9" name="text-67qbwc-1165-239">
            <a:extLst xmlns:a="http://schemas.openxmlformats.org/drawingml/2006/main">
              <a:ext uri="{FF2B5EF4-FFF2-40B4-BE49-F238E27FC236}">
                <a16:creationId xmlns:a16="http://schemas.microsoft.com/office/drawing/2014/main" id="{41575412-7BD3-4A26-966F-02E784B490DA}"/>
              </a:ext>
            </a:extLst>
          </p:cNvPr>
          <p:cNvSpPr>
            <a:spLocks xmlns:a="http://schemas.openxmlformats.org/drawingml/2006/main" noGrp="1"/>
          </p:cNvSpPr>
          <p:nvPr/>
        </p:nvSpPr>
        <p:spPr>
          <a:xfrm xmlns:a="http://schemas.openxmlformats.org/drawingml/2006/main">
            <a:off x="11096625" y="22764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확장 데모에서 확인</a:t>
            </a:r>
          </a:p>
        </p:txBody>
      </p:sp>
      <p:sp>
        <p:nvSpPr>
          <p:cNvPr id="10" name="text-67qbwc-1165-290">
            <a:extLst xmlns:a="http://schemas.openxmlformats.org/drawingml/2006/main">
              <a:ext uri="{FF2B5EF4-FFF2-40B4-BE49-F238E27FC236}">
                <a16:creationId xmlns:a16="http://schemas.microsoft.com/office/drawing/2014/main" id="{B4D937E2-6122-4A4B-BB8E-B289400B3AD2}"/>
              </a:ext>
            </a:extLst>
          </p:cNvPr>
          <p:cNvSpPr>
            <a:spLocks xmlns:a="http://schemas.openxmlformats.org/drawingml/2006/main" noGrp="1"/>
          </p:cNvSpPr>
          <p:nvPr/>
        </p:nvSpPr>
        <p:spPr>
          <a:xfrm xmlns:a="http://schemas.openxmlformats.org/drawingml/2006/main">
            <a:off x="11096625" y="27622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변경 계획과 영향 검토</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변경 이력과 스냅샷</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변환 불가 값 검증·재검증</a:t>
            </a:r>
          </a:p>
        </p:txBody>
      </p:sp>
      <p:sp>
        <p:nvSpPr>
          <p:cNvPr id="11" name="">
            <a:extLst xmlns:a="http://schemas.openxmlformats.org/drawingml/2006/main">
              <a:ext uri="{FF2B5EF4-FFF2-40B4-BE49-F238E27FC236}">
                <a16:creationId xmlns:a16="http://schemas.microsoft.com/office/drawing/2014/main" id="{E8E1C5E9-BF63-4ADE-88D3-2E98F2C07786}"/>
              </a:ext>
            </a:extLst>
          </p:cNvPr>
          <p:cNvSpPr>
            <a:spLocks xmlns:a="http://schemas.openxmlformats.org/drawingml/2006/main" noGrp="1"/>
          </p:cNvSpPr>
          <p:nvPr/>
        </p:nvSpPr>
        <p:spPr>
          <a:xfrm xmlns:a="http://schemas.openxmlformats.org/drawingml/2006/main">
            <a:off x="10953750" y="4724400"/>
            <a:ext cx="35242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2" name="text-67qbwc-1165-505">
            <a:extLst xmlns:a="http://schemas.openxmlformats.org/drawingml/2006/main">
              <a:ext uri="{FF2B5EF4-FFF2-40B4-BE49-F238E27FC236}">
                <a16:creationId xmlns:a16="http://schemas.microsoft.com/office/drawing/2014/main" id="{89732DEF-A0F6-4AAA-824A-EC238844AC4E}"/>
              </a:ext>
            </a:extLst>
          </p:cNvPr>
          <p:cNvSpPr>
            <a:spLocks xmlns:a="http://schemas.openxmlformats.org/drawingml/2006/main" noGrp="1"/>
          </p:cNvSpPr>
          <p:nvPr/>
        </p:nvSpPr>
        <p:spPr>
          <a:xfrm xmlns:a="http://schemas.openxmlformats.org/drawingml/2006/main">
            <a:off x="11096625" y="481012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도입 시 연결할 범위</a:t>
            </a:r>
          </a:p>
        </p:txBody>
      </p:sp>
      <p:sp>
        <p:nvSpPr>
          <p:cNvPr id="13" name="text-67qbwc-1165-556">
            <a:extLst xmlns:a="http://schemas.openxmlformats.org/drawingml/2006/main">
              <a:ext uri="{FF2B5EF4-FFF2-40B4-BE49-F238E27FC236}">
                <a16:creationId xmlns:a16="http://schemas.microsoft.com/office/drawing/2014/main" id="{917FCEF9-7D47-4186-9340-3AAE7315BB4C}"/>
              </a:ext>
            </a:extLst>
          </p:cNvPr>
          <p:cNvSpPr>
            <a:spLocks xmlns:a="http://schemas.openxmlformats.org/drawingml/2006/main" noGrp="1"/>
          </p:cNvSpPr>
          <p:nvPr/>
        </p:nvSpPr>
        <p:spPr>
          <a:xfrm xmlns:a="http://schemas.openxmlformats.org/drawingml/2006/main">
            <a:off x="11096625" y="529590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문서·규칙·질의·에이전트의</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의존관계와 승인 배포 정책</a:t>
            </a:r>
          </a:p>
        </p:txBody>
      </p:sp>
      <p:sp>
        <p:nvSpPr>
          <p:cNvPr id="14" name="text-67qbwc-80-733">
            <a:extLst xmlns:a="http://schemas.openxmlformats.org/drawingml/2006/main">
              <a:ext uri="{FF2B5EF4-FFF2-40B4-BE49-F238E27FC236}">
                <a16:creationId xmlns:a16="http://schemas.microsoft.com/office/drawing/2014/main" id="{F02AEA0C-1E59-463A-9117-335E6DED8A57}"/>
              </a:ext>
            </a:extLst>
          </p:cNvPr>
          <p:cNvSpPr>
            <a:spLocks xmlns:a="http://schemas.openxmlformats.org/drawingml/2006/main" noGrp="1"/>
          </p:cNvSpPr>
          <p:nvPr/>
        </p:nvSpPr>
        <p:spPr>
          <a:xfrm xmlns:a="http://schemas.openxmlformats.org/drawingml/2006/main">
            <a:off x="762000" y="6981825"/>
            <a:ext cx="1314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86868"/>
                </a:solidFill>
                <a:latin typeface="Freesentation-4Regular"/>
                <a:ea typeface="Freesentation-4Regular"/>
                <a:cs typeface="Freesentation-4Regular"/>
              </a:defRPr>
            </a:pPr>
            <a:r>
              <a:rPr sz="1650" b="0">
                <a:solidFill>
                  <a:srgbClr val="686868"/>
                </a:solidFill>
                <a:latin typeface="Freesentation-4Regular"/>
                <a:ea typeface="Freesentation-4Regular"/>
                <a:cs typeface="Freesentation-4Regular"/>
              </a:rPr>
              <a:t>Ontological 확장 기능 / 별도 통합 대상</a:t>
            </a:r>
          </a:p>
        </p:txBody>
      </p:sp>
    </p:spTree>
    <p:extLst>
      <p:ext uri="{BB962C8B-B14F-4D97-AF65-F5344CB8AC3E}">
        <p14:creationId xmlns:p14="http://schemas.microsoft.com/office/powerpoint/2010/main" val="18835507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44C5BD-BD8E-466F-A558-835E5B7CD626}"/>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susitd-74-44">
            <a:extLst xmlns:a="http://schemas.openxmlformats.org/drawingml/2006/main">
              <a:ext uri="{FF2B5EF4-FFF2-40B4-BE49-F238E27FC236}">
                <a16:creationId xmlns:a16="http://schemas.microsoft.com/office/drawing/2014/main" id="{48A8F46C-51BF-48F3-9188-16ED80ACFB88}"/>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고객사 직접 운영 범위</a:t>
            </a:r>
          </a:p>
        </p:txBody>
      </p:sp>
      <p:sp>
        <p:nvSpPr>
          <p:cNvPr id="3" name="text-susitd-74-131">
            <a:extLst xmlns:a="http://schemas.openxmlformats.org/drawingml/2006/main">
              <a:ext uri="{FF2B5EF4-FFF2-40B4-BE49-F238E27FC236}">
                <a16:creationId xmlns:a16="http://schemas.microsoft.com/office/drawing/2014/main" id="{DEA98509-3B48-46AD-9037-B17575694D28}"/>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업무 담당자와 플랫폼 운영자의 역할을 나눕니다</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f0d9ca874574140"/>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susitd-80-841">
            <a:extLst xmlns:a="http://schemas.openxmlformats.org/drawingml/2006/main">
              <a:ext uri="{FF2B5EF4-FFF2-40B4-BE49-F238E27FC236}">
                <a16:creationId xmlns:a16="http://schemas.microsoft.com/office/drawing/2014/main" id="{B7B30014-7962-4282-B274-4086548B99A8}"/>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04 사전 질의 상세 · Q5</a:t>
            </a:r>
          </a:p>
        </p:txBody>
      </p:sp>
      <p:sp>
        <p:nvSpPr>
          <p:cNvPr id="6" name="text-susitd-1470-839">
            <a:extLst xmlns:a="http://schemas.openxmlformats.org/drawingml/2006/main">
              <a:ext uri="{FF2B5EF4-FFF2-40B4-BE49-F238E27FC236}">
                <a16:creationId xmlns:a16="http://schemas.microsoft.com/office/drawing/2014/main" id="{2AF773E3-61D5-482D-9139-F3E00871F580}"/>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15</a:t>
            </a:r>
          </a:p>
        </p:txBody>
      </p:sp>
      <p:graphicFrame>
        <p:nvGraphicFramePr>
          <p:cNvPr id="15" name=""/>
          <p:cNvGraphicFramePr/>
          <p:nvPr/>
        </p:nvGraphicFramePr>
        <p:xfrm>
          <a:off xmlns:a="http://schemas.openxmlformats.org/drawingml/2006/main" x="762000" y="2181225"/>
          <a:ext xmlns:a="http://schemas.openxmlformats.org/drawingml/2006/main" cx="13716000" cy="4295775"/>
        </p:xfrm>
        <a:graphic xmlns:a="http://schemas.openxmlformats.org/drawingml/2006/main">
          <a:graphicData uri="http://schemas.openxmlformats.org/drawingml/2006/table">
            <a:tbl>
              <a:tblPr/>
              <a:tblGrid>
                <a:gridCol w="2952750"/>
                <a:gridCol w="6000750"/>
                <a:gridCol w="4762500"/>
              </a:tblGrid>
              <a:tr h="609600">
                <a:tc>
                  <a:txBody>
                    <a:bodyPr/>
                    <a:lstStyle/>
                    <a:p>
                      <a:r>
                        <a:rPr sz="1800" b="1">
                          <a:solidFill>
                            <a:srgbClr val="FFFFFF"/>
                          </a:solidFill>
                          <a:latin typeface="Freesentation-4Regular"/>
                          <a:ea typeface="Freesentation-4Regular"/>
                          <a:cs typeface="Freesentation-4Regular"/>
                        </a:rPr>
                        <a:t>담당</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직접 수정·운영할 내용</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초기 구축에서 준비할 것</a:t>
                      </a:r>
                    </a:p>
                  </a:txBody>
                  <a:tcPr marL="91440" marR="91440" marT="45720" marB="45720">
                    <a:solidFill>
                      <a:srgbClr val="67519E"/>
                    </a:solidFill>
                  </a:tcPr>
                </a:tc>
              </a:tr>
              <a:tr h="1228725">
                <a:tc>
                  <a:txBody>
                    <a:bodyPr/>
                    <a:lstStyle/>
                    <a:p>
                      <a:r>
                        <a:rPr sz="2100" b="1">
                          <a:solidFill>
                            <a:srgbClr val="67519E"/>
                          </a:solidFill>
                          <a:latin typeface="Freesentation-4Regular"/>
                          <a:ea typeface="Freesentation-4Regular"/>
                          <a:cs typeface="Freesentation-4Regular"/>
                        </a:rPr>
                        <a:t>업무 담당자</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업무 용어·개념·관계 검토</a:t>
                      </a:r>
                    </a:p>
                    <a:p>
                      <a:r>
                        <a:rPr sz="2100" b="0">
                          <a:solidFill>
                            <a:srgbClr val="262626"/>
                          </a:solidFill>
                          <a:latin typeface="Freesentation-4Regular"/>
                          <a:ea typeface="Freesentation-4Regular"/>
                          <a:cs typeface="Freesentation-4Regular"/>
                        </a:rPr>
                        <a:t>문서와 대표 질의의 정답 관리</a:t>
                      </a:r>
                    </a:p>
                  </a:txBody>
                  <a:tcPr marL="91440" marR="91440" marT="45720" marB="45720">
                    <a:solidFill>
                      <a:srgbClr val="FFFFFF"/>
                    </a:solidFill>
                  </a:tcPr>
                </a:tc>
                <a:tc>
                  <a:txBody>
                    <a:bodyPr/>
                    <a:lstStyle/>
                    <a:p>
                      <a:r>
                        <a:rPr sz="2100" b="0">
                          <a:solidFill>
                            <a:srgbClr val="262626"/>
                          </a:solidFill>
                          <a:latin typeface="Freesentation-4Regular"/>
                          <a:ea typeface="Freesentation-4Regular"/>
                          <a:cs typeface="Freesentation-4Regular"/>
                        </a:rPr>
                        <a:t>표준 용어집, 근거 문서</a:t>
                      </a:r>
                    </a:p>
                    <a:p>
                      <a:r>
                        <a:rPr sz="2100" b="0">
                          <a:solidFill>
                            <a:srgbClr val="262626"/>
                          </a:solidFill>
                          <a:latin typeface="Freesentation-4Regular"/>
                          <a:ea typeface="Freesentation-4Regular"/>
                          <a:cs typeface="Freesentation-4Regular"/>
                        </a:rPr>
                        <a:t>검수 기준과 교육</a:t>
                      </a:r>
                    </a:p>
                  </a:txBody>
                  <a:tcPr marL="91440" marR="91440" marT="45720" marB="45720">
                    <a:solidFill>
                      <a:srgbClr val="FFFFFF"/>
                    </a:solidFill>
                  </a:tcPr>
                </a:tc>
              </a:tr>
              <a:tr h="1228725">
                <a:tc>
                  <a:txBody>
                    <a:bodyPr/>
                    <a:lstStyle/>
                    <a:p>
                      <a:r>
                        <a:rPr sz="2100" b="1">
                          <a:solidFill>
                            <a:srgbClr val="67519E"/>
                          </a:solidFill>
                          <a:latin typeface="Freesentation-4Regular"/>
                          <a:ea typeface="Freesentation-4Regular"/>
                          <a:cs typeface="Freesentation-4Regular"/>
                        </a:rPr>
                        <a:t>지식 운영자</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스키마·속성·매핑 수정</a:t>
                      </a:r>
                    </a:p>
                    <a:p>
                      <a:r>
                        <a:rPr sz="2100" b="0">
                          <a:solidFill>
                            <a:srgbClr val="262626"/>
                          </a:solidFill>
                          <a:latin typeface="Freesentation-4Regular"/>
                          <a:ea typeface="Freesentation-4Regular"/>
                          <a:cs typeface="Freesentation-4Regular"/>
                        </a:rPr>
                        <a:t>질의 확인과 모델 재발행</a:t>
                      </a:r>
                    </a:p>
                  </a:txBody>
                  <a:tcPr marL="91440" marR="91440" marT="45720" marB="45720">
                    <a:solidFill>
                      <a:srgbClr val="F6F8F9"/>
                    </a:solidFill>
                  </a:tcPr>
                </a:tc>
                <a:tc>
                  <a:txBody>
                    <a:bodyPr/>
                    <a:lstStyle/>
                    <a:p>
                      <a:r>
                        <a:rPr sz="2100" b="0">
                          <a:solidFill>
                            <a:srgbClr val="262626"/>
                          </a:solidFill>
                          <a:latin typeface="Freesentation-4Regular"/>
                          <a:ea typeface="Freesentation-4Regular"/>
                          <a:cs typeface="Freesentation-4Regular"/>
                        </a:rPr>
                        <a:t>변경·검수·발행 절차</a:t>
                      </a:r>
                    </a:p>
                    <a:p>
                      <a:r>
                        <a:rPr sz="2100" b="0">
                          <a:solidFill>
                            <a:srgbClr val="262626"/>
                          </a:solidFill>
                          <a:latin typeface="Freesentation-4Regular"/>
                          <a:ea typeface="Freesentation-4Regular"/>
                          <a:cs typeface="Freesentation-4Regular"/>
                        </a:rPr>
                        <a:t>운영 매뉴얼과 인수 시험</a:t>
                      </a:r>
                    </a:p>
                  </a:txBody>
                  <a:tcPr marL="91440" marR="91440" marT="45720" marB="45720">
                    <a:solidFill>
                      <a:srgbClr val="F6F8F9"/>
                    </a:solidFill>
                  </a:tcPr>
                </a:tc>
              </a:tr>
              <a:tr h="1228725">
                <a:tc>
                  <a:txBody>
                    <a:bodyPr/>
                    <a:lstStyle/>
                    <a:p>
                      <a:r>
                        <a:rPr sz="2100" b="1">
                          <a:solidFill>
                            <a:srgbClr val="67519E"/>
                          </a:solidFill>
                          <a:latin typeface="Freesentation-4Regular"/>
                          <a:ea typeface="Freesentation-4Regular"/>
                          <a:cs typeface="Freesentation-4Regular"/>
                        </a:rPr>
                        <a:t>플랫폼 / 개발 담당</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원천 연결과 인증·권한</a:t>
                      </a:r>
                    </a:p>
                    <a:p>
                      <a:r>
                        <a:rPr sz="2100" b="0">
                          <a:solidFill>
                            <a:srgbClr val="262626"/>
                          </a:solidFill>
                          <a:latin typeface="Freesentation-4Regular"/>
                          <a:ea typeface="Freesentation-4Regular"/>
                          <a:cs typeface="Freesentation-4Regular"/>
                        </a:rPr>
                        <a:t>파서·업무 계산·MCP 도구 확장</a:t>
                      </a:r>
                    </a:p>
                  </a:txBody>
                  <a:tcPr marL="91440" marR="91440" marT="45720" marB="45720">
                    <a:solidFill>
                      <a:srgbClr val="FFFFFF"/>
                    </a:solidFill>
                  </a:tcPr>
                </a:tc>
                <a:tc>
                  <a:txBody>
                    <a:bodyPr/>
                    <a:lstStyle/>
                    <a:p>
                      <a:r>
                        <a:rPr sz="2100" b="0">
                          <a:solidFill>
                            <a:srgbClr val="262626"/>
                          </a:solidFill>
                          <a:latin typeface="Freesentation-4Regular"/>
                          <a:ea typeface="Freesentation-4Regular"/>
                          <a:cs typeface="Freesentation-4Regular"/>
                        </a:rPr>
                        <a:t>고객사 시스템 연계</a:t>
                      </a:r>
                    </a:p>
                    <a:p>
                      <a:r>
                        <a:rPr sz="2100" b="0">
                          <a:solidFill>
                            <a:srgbClr val="262626"/>
                          </a:solidFill>
                          <a:latin typeface="Freesentation-4Regular"/>
                          <a:ea typeface="Freesentation-4Regular"/>
                          <a:cs typeface="Freesentation-4Regular"/>
                        </a:rPr>
                        <a:t>보안·배포·복구 환경</a:t>
                      </a:r>
                    </a:p>
                  </a:txBody>
                  <a:tcPr marL="91440" marR="91440" marT="45720" marB="45720">
                    <a:solidFill>
                      <a:srgbClr val="FFFFFF"/>
                    </a:solidFill>
                  </a:tcPr>
                </a:tc>
              </a:tr>
            </a:tbl>
          </a:graphicData>
        </a:graphic>
      </p:graphicFrame>
      <p:sp>
        <p:nvSpPr>
          <p:cNvPr id="8" name="text-susitd-80-696">
            <a:extLst xmlns:a="http://schemas.openxmlformats.org/drawingml/2006/main">
              <a:ext uri="{FF2B5EF4-FFF2-40B4-BE49-F238E27FC236}">
                <a16:creationId xmlns:a16="http://schemas.microsoft.com/office/drawing/2014/main" id="{A9470B6E-F749-4FAD-B02E-A5F00D7667F0}"/>
              </a:ext>
            </a:extLst>
          </p:cNvPr>
          <p:cNvSpPr>
            <a:spLocks xmlns:a="http://schemas.openxmlformats.org/drawingml/2006/main" noGrp="1"/>
          </p:cNvSpPr>
          <p:nvPr/>
        </p:nvSpPr>
        <p:spPr>
          <a:xfrm xmlns:a="http://schemas.openxmlformats.org/drawingml/2006/main">
            <a:off x="762000" y="6629400"/>
            <a:ext cx="1362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검수 기준과 대표 질문을 함께 인도해 고객사가 변경 결과를 직접 확인하도록 구성합니다</a:t>
            </a:r>
          </a:p>
        </p:txBody>
      </p:sp>
    </p:spTree>
    <p:extLst>
      <p:ext uri="{BB962C8B-B14F-4D97-AF65-F5344CB8AC3E}">
        <p14:creationId xmlns:p14="http://schemas.microsoft.com/office/powerpoint/2010/main" val="14549192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1DDE3AB-0A03-4AF0-ACA9-3672B69B520D}"/>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0cwvb1-74-44">
            <a:extLst xmlns:a="http://schemas.openxmlformats.org/drawingml/2006/main">
              <a:ext uri="{FF2B5EF4-FFF2-40B4-BE49-F238E27FC236}">
                <a16:creationId xmlns:a16="http://schemas.microsoft.com/office/drawing/2014/main" id="{283CCB89-7576-4B0E-A329-2966438157BD}"/>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GraphRAG · MCP · AI Agent 연계</a:t>
            </a:r>
          </a:p>
        </p:txBody>
      </p:sp>
      <p:sp>
        <p:nvSpPr>
          <p:cNvPr id="3" name="text-0cwvb1-74-131">
            <a:extLst xmlns:a="http://schemas.openxmlformats.org/drawingml/2006/main">
              <a:ext uri="{FF2B5EF4-FFF2-40B4-BE49-F238E27FC236}">
                <a16:creationId xmlns:a16="http://schemas.microsoft.com/office/drawing/2014/main" id="{BA36CB65-EC1E-43E8-BD4E-2857D335B313}"/>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온톨로지는 조회 근거를 제공하고, MCP는 도구 호출을 연결</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cb703d2b87442e1"/>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0cwvb1-80-841">
            <a:extLst xmlns:a="http://schemas.openxmlformats.org/drawingml/2006/main">
              <a:ext uri="{FF2B5EF4-FFF2-40B4-BE49-F238E27FC236}">
                <a16:creationId xmlns:a16="http://schemas.microsoft.com/office/drawing/2014/main" id="{CB5FFB5A-2116-4EDC-AF75-B4FAF7B224D5}"/>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04 사전 질의 상세 · Q6</a:t>
            </a:r>
          </a:p>
        </p:txBody>
      </p:sp>
      <p:sp>
        <p:nvSpPr>
          <p:cNvPr id="6" name="text-0cwvb1-1470-839">
            <a:extLst xmlns:a="http://schemas.openxmlformats.org/drawingml/2006/main">
              <a:ext uri="{FF2B5EF4-FFF2-40B4-BE49-F238E27FC236}">
                <a16:creationId xmlns:a16="http://schemas.microsoft.com/office/drawing/2014/main" id="{9AB30EAE-EE40-4DAC-9280-3DE01E5282D2}"/>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16</a:t>
            </a:r>
          </a:p>
        </p:txBody>
      </p:sp>
      <p:graphicFrame>
        <p:nvGraphicFramePr>
          <p:cNvPr id="15" name=""/>
          <p:cNvGraphicFramePr/>
          <p:nvPr/>
        </p:nvGraphicFramePr>
        <p:xfrm>
          <a:off xmlns:a="http://schemas.openxmlformats.org/drawingml/2006/main" x="762000" y="2143125"/>
          <a:ext xmlns:a="http://schemas.openxmlformats.org/drawingml/2006/main" cx="13716000" cy="4191000"/>
        </p:xfrm>
        <a:graphic xmlns:a="http://schemas.openxmlformats.org/drawingml/2006/main">
          <a:graphicData uri="http://schemas.openxmlformats.org/drawingml/2006/table">
            <a:tbl>
              <a:tblPr/>
              <a:tblGrid>
                <a:gridCol w="3143250"/>
                <a:gridCol w="10572750"/>
              </a:tblGrid>
              <a:tr h="609600">
                <a:tc>
                  <a:txBody>
                    <a:bodyPr/>
                    <a:lstStyle/>
                    <a:p>
                      <a:r>
                        <a:rPr sz="1800" b="1">
                          <a:solidFill>
                            <a:srgbClr val="FFFFFF"/>
                          </a:solidFill>
                          <a:latin typeface="Freesentation-4Regular"/>
                          <a:ea typeface="Freesentation-4Regular"/>
                          <a:cs typeface="Freesentation-4Regular"/>
                        </a:rPr>
                        <a:t>단계</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실제 증권 데모의 동작</a:t>
                      </a:r>
                    </a:p>
                  </a:txBody>
                  <a:tcPr marL="91440" marR="91440" marT="45720" marB="45720">
                    <a:solidFill>
                      <a:srgbClr val="67519E"/>
                    </a:solidFill>
                  </a:tcPr>
                </a:tc>
              </a:tr>
              <a:tr h="895350">
                <a:tc>
                  <a:txBody>
                    <a:bodyPr/>
                    <a:lstStyle/>
                    <a:p>
                      <a:r>
                        <a:rPr sz="2100" b="1">
                          <a:solidFill>
                            <a:srgbClr val="67519E"/>
                          </a:solidFill>
                          <a:latin typeface="Freesentation-4Regular"/>
                          <a:ea typeface="Freesentation-4Regular"/>
                          <a:cs typeface="Freesentation-4Regular"/>
                        </a:rPr>
                        <a:t>1  질문 이해</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상품명·코드를 엔티티로 해소하고 관련 클래스와 속성을 확인</a:t>
                      </a:r>
                    </a:p>
                  </a:txBody>
                  <a:tcPr marL="91440" marR="91440" marT="45720" marB="45720">
                    <a:solidFill>
                      <a:srgbClr val="FFFFFF"/>
                    </a:solidFill>
                  </a:tcPr>
                </a:tc>
              </a:tr>
              <a:tr h="895350">
                <a:tc>
                  <a:txBody>
                    <a:bodyPr/>
                    <a:lstStyle/>
                    <a:p>
                      <a:r>
                        <a:rPr sz="2100" b="1">
                          <a:solidFill>
                            <a:srgbClr val="67519E"/>
                          </a:solidFill>
                          <a:latin typeface="Freesentation-4Regular"/>
                          <a:ea typeface="Freesentation-4Regular"/>
                          <a:cs typeface="Freesentation-4Regular"/>
                        </a:rPr>
                        <a:t>2  근거 조회</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그래프에서 문서·버전·조항 탐색, 원천 DB에서 현재 값 조회</a:t>
                      </a:r>
                    </a:p>
                  </a:txBody>
                  <a:tcPr marL="91440" marR="91440" marT="45720" marB="45720">
                    <a:solidFill>
                      <a:srgbClr val="F6F8F9"/>
                    </a:solidFill>
                  </a:tcPr>
                </a:tc>
              </a:tr>
              <a:tr h="895350">
                <a:tc>
                  <a:txBody>
                    <a:bodyPr/>
                    <a:lstStyle/>
                    <a:p>
                      <a:r>
                        <a:rPr sz="2100" b="1">
                          <a:solidFill>
                            <a:srgbClr val="67519E"/>
                          </a:solidFill>
                          <a:latin typeface="Freesentation-4Regular"/>
                          <a:ea typeface="Freesentation-4Regular"/>
                          <a:cs typeface="Freesentation-4Regular"/>
                        </a:rPr>
                        <a:t>3  판단·설명</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조항과 계산 결과를 함께 사용해 가능 여부와 근거 설명</a:t>
                      </a:r>
                    </a:p>
                  </a:txBody>
                  <a:tcPr marL="91440" marR="91440" marT="45720" marB="45720">
                    <a:solidFill>
                      <a:srgbClr val="FFFFFF"/>
                    </a:solidFill>
                  </a:tcPr>
                </a:tc>
              </a:tr>
              <a:tr h="895350">
                <a:tc>
                  <a:txBody>
                    <a:bodyPr/>
                    <a:lstStyle/>
                    <a:p>
                      <a:r>
                        <a:rPr sz="2100" b="1">
                          <a:solidFill>
                            <a:srgbClr val="67519E"/>
                          </a:solidFill>
                          <a:latin typeface="Freesentation-4Regular"/>
                          <a:ea typeface="Freesentation-4Regular"/>
                          <a:cs typeface="Freesentation-4Regular"/>
                        </a:rPr>
                        <a:t>4  업무 실행</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Process GPT의 에이전트 태스크가 MCP 호출 후 사람에게 검토 요청</a:t>
                      </a:r>
                    </a:p>
                  </a:txBody>
                  <a:tcPr marL="91440" marR="91440" marT="45720" marB="45720">
                    <a:solidFill>
                      <a:srgbClr val="F6F8F9"/>
                    </a:solidFill>
                  </a:tcPr>
                </a:tc>
              </a:tr>
            </a:tbl>
          </a:graphicData>
        </a:graphic>
      </p:graphicFrame>
      <p:sp>
        <p:nvSpPr>
          <p:cNvPr id="8" name="text-0cwvb1-80-689">
            <a:extLst xmlns:a="http://schemas.openxmlformats.org/drawingml/2006/main">
              <a:ext uri="{FF2B5EF4-FFF2-40B4-BE49-F238E27FC236}">
                <a16:creationId xmlns:a16="http://schemas.microsoft.com/office/drawing/2014/main" id="{5CC2F4D8-4863-4F78-8F5A-6424A72DFD9D}"/>
              </a:ext>
            </a:extLst>
          </p:cNvPr>
          <p:cNvSpPr>
            <a:spLocks xmlns:a="http://schemas.openxmlformats.org/drawingml/2006/main" noGrp="1"/>
          </p:cNvSpPr>
          <p:nvPr/>
        </p:nvSpPr>
        <p:spPr>
          <a:xfrm xmlns:a="http://schemas.openxmlformats.org/drawingml/2006/main">
            <a:off x="762000" y="6562725"/>
            <a:ext cx="1362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67519E"/>
                </a:solidFill>
                <a:latin typeface="GmarketSansMedium"/>
                <a:ea typeface="GmarketSansMedium"/>
                <a:cs typeface="GmarketSansMedium"/>
              </a:defRPr>
            </a:pPr>
            <a:r>
              <a:rPr sz="2175" b="1">
                <a:solidFill>
                  <a:srgbClr val="67519E"/>
                </a:solidFill>
                <a:latin typeface="GmarketSansMedium"/>
                <a:ea typeface="GmarketSansMedium"/>
                <a:cs typeface="GmarketSansMedium"/>
              </a:rPr>
              <a:t>모호한 이름은 후보를 제시하고, 근거가 부족하면 확정을 보류하도록 구성합니다.</a:t>
            </a:r>
          </a:p>
        </p:txBody>
      </p:sp>
    </p:spTree>
    <p:extLst>
      <p:ext uri="{BB962C8B-B14F-4D97-AF65-F5344CB8AC3E}">
        <p14:creationId xmlns:p14="http://schemas.microsoft.com/office/powerpoint/2010/main" val="12131276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48428D-49D7-4C4A-A2C7-DAE445A75DC8}"/>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qrl0pj-74-44">
            <a:extLst xmlns:a="http://schemas.openxmlformats.org/drawingml/2006/main">
              <a:ext uri="{FF2B5EF4-FFF2-40B4-BE49-F238E27FC236}">
                <a16:creationId xmlns:a16="http://schemas.microsoft.com/office/drawing/2014/main" id="{FEDAD821-97B3-4D7C-9E42-F717F5A8ACF5}"/>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제품 기능과 별도 적용 범위</a:t>
            </a:r>
          </a:p>
        </p:txBody>
      </p:sp>
      <p:sp>
        <p:nvSpPr>
          <p:cNvPr id="3" name="text-qrl0pj-74-131">
            <a:extLst xmlns:a="http://schemas.openxmlformats.org/drawingml/2006/main">
              <a:ext uri="{FF2B5EF4-FFF2-40B4-BE49-F238E27FC236}">
                <a16:creationId xmlns:a16="http://schemas.microsoft.com/office/drawing/2014/main" id="{1ACB3B51-E2F7-4A5F-979E-5B6943025495}"/>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공급 범위는 버전·구성·고객 환경을 기준으로 확정</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25fca5b20314605"/>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qrl0pj-80-841">
            <a:extLst xmlns:a="http://schemas.openxmlformats.org/drawingml/2006/main">
              <a:ext uri="{FF2B5EF4-FFF2-40B4-BE49-F238E27FC236}">
                <a16:creationId xmlns:a16="http://schemas.microsoft.com/office/drawing/2014/main" id="{4787B2E1-30FB-4F63-B3C9-1AA8B049EAB5}"/>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04 사전 질의 상세 · Q7</a:t>
            </a:r>
          </a:p>
        </p:txBody>
      </p:sp>
      <p:sp>
        <p:nvSpPr>
          <p:cNvPr id="6" name="text-qrl0pj-1470-839">
            <a:extLst xmlns:a="http://schemas.openxmlformats.org/drawingml/2006/main">
              <a:ext uri="{FF2B5EF4-FFF2-40B4-BE49-F238E27FC236}">
                <a16:creationId xmlns:a16="http://schemas.microsoft.com/office/drawing/2014/main" id="{30F88ADB-AEF5-4617-BBB3-A094D0AC5DFD}"/>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17</a:t>
            </a:r>
          </a:p>
        </p:txBody>
      </p:sp>
      <p:graphicFrame>
        <p:nvGraphicFramePr>
          <p:cNvPr id="14" name=""/>
          <p:cNvGraphicFramePr/>
          <p:nvPr/>
        </p:nvGraphicFramePr>
        <p:xfrm>
          <a:off xmlns:a="http://schemas.openxmlformats.org/drawingml/2006/main" x="762000" y="2124075"/>
          <a:ext xmlns:a="http://schemas.openxmlformats.org/drawingml/2006/main" cx="13716000" cy="4724400"/>
        </p:xfrm>
        <a:graphic xmlns:a="http://schemas.openxmlformats.org/drawingml/2006/main">
          <a:graphicData uri="http://schemas.openxmlformats.org/drawingml/2006/table">
            <a:tbl>
              <a:tblPr/>
              <a:tblGrid>
                <a:gridCol w="2619375"/>
                <a:gridCol w="5572125"/>
                <a:gridCol w="5524500"/>
              </a:tblGrid>
              <a:tr h="609600">
                <a:tc>
                  <a:txBody>
                    <a:bodyPr/>
                    <a:lstStyle/>
                    <a:p>
                      <a:r>
                        <a:rPr sz="1800" b="1">
                          <a:solidFill>
                            <a:srgbClr val="FFFFFF"/>
                          </a:solidFill>
                          <a:latin typeface="Freesentation-4Regular"/>
                          <a:ea typeface="Freesentation-4Regular"/>
                          <a:cs typeface="Freesentation-4Regular"/>
                        </a:rPr>
                        <a:t>영역</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현재 제품·시연에서 확인</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별도 설정·개발·통합</a:t>
                      </a:r>
                    </a:p>
                  </a:txBody>
                  <a:tcPr marL="91440" marR="91440" marT="45720" marB="45720">
                    <a:solidFill>
                      <a:srgbClr val="67519E"/>
                    </a:solidFill>
                  </a:tcPr>
                </a:tc>
              </a:tr>
              <a:tr h="1028700">
                <a:tc>
                  <a:txBody>
                    <a:bodyPr/>
                    <a:lstStyle/>
                    <a:p>
                      <a:r>
                        <a:rPr sz="1950" b="1">
                          <a:solidFill>
                            <a:srgbClr val="67519E"/>
                          </a:solidFill>
                          <a:latin typeface="Freesentation-4Regular"/>
                          <a:ea typeface="Freesentation-4Regular"/>
                          <a:cs typeface="Freesentation-4Regular"/>
                        </a:rPr>
                        <a:t>지식 구축</a:t>
                      </a:r>
                    </a:p>
                  </a:txBody>
                  <a:tcPr marL="91440" marR="91440" marT="45720" marB="45720">
                    <a:solidFill>
                      <a:srgbClr val="F1EDF7"/>
                    </a:solidFill>
                  </a:tcPr>
                </a:tc>
                <a:tc>
                  <a:txBody>
                    <a:bodyPr/>
                    <a:lstStyle/>
                    <a:p>
                      <a:r>
                        <a:rPr sz="1950" b="0">
                          <a:solidFill>
                            <a:srgbClr val="262626"/>
                          </a:solidFill>
                          <a:latin typeface="Freesentation-4Regular"/>
                          <a:ea typeface="Freesentation-4Regular"/>
                          <a:cs typeface="Freesentation-4Regular"/>
                        </a:rPr>
                        <a:t>스키마·관계 편집, 문서 추출</a:t>
                      </a:r>
                    </a:p>
                    <a:p>
                      <a:r>
                        <a:rPr sz="1950" b="0">
                          <a:solidFill>
                            <a:srgbClr val="262626"/>
                          </a:solidFill>
                          <a:latin typeface="Freesentation-4Regular"/>
                          <a:ea typeface="Freesentation-4Regular"/>
                          <a:cs typeface="Freesentation-4Regular"/>
                        </a:rPr>
                        <a:t>DB 바인딩, 대표 질문 검증</a:t>
                      </a:r>
                    </a:p>
                  </a:txBody>
                  <a:tcPr marL="91440" marR="91440" marT="45720" marB="45720">
                    <a:solidFill>
                      <a:srgbClr val="FFFFFF"/>
                    </a:solidFill>
                  </a:tcPr>
                </a:tc>
                <a:tc>
                  <a:txBody>
                    <a:bodyPr/>
                    <a:lstStyle/>
                    <a:p>
                      <a:r>
                        <a:rPr sz="1950" b="0">
                          <a:solidFill>
                            <a:srgbClr val="262626"/>
                          </a:solidFill>
                          <a:latin typeface="Freesentation-4Regular"/>
                          <a:ea typeface="Freesentation-4Regular"/>
                          <a:cs typeface="Freesentation-4Regular"/>
                        </a:rPr>
                        <a:t>사내 용어, 복잡한 문서 파서</a:t>
                      </a:r>
                    </a:p>
                    <a:p>
                      <a:r>
                        <a:rPr sz="1950" b="0">
                          <a:solidFill>
                            <a:srgbClr val="262626"/>
                          </a:solidFill>
                          <a:latin typeface="Freesentation-4Regular"/>
                          <a:ea typeface="Freesentation-4Regular"/>
                          <a:cs typeface="Freesentation-4Regular"/>
                        </a:rPr>
                        <a:t>동일 개체·조항 해석 규칙</a:t>
                      </a:r>
                    </a:p>
                  </a:txBody>
                  <a:tcPr marL="91440" marR="91440" marT="45720" marB="45720">
                    <a:solidFill>
                      <a:srgbClr val="FFFFFF"/>
                    </a:solidFill>
                  </a:tcPr>
                </a:tc>
              </a:tr>
              <a:tr h="1028700">
                <a:tc>
                  <a:txBody>
                    <a:bodyPr/>
                    <a:lstStyle/>
                    <a:p>
                      <a:r>
                        <a:rPr sz="1950" b="1">
                          <a:solidFill>
                            <a:srgbClr val="67519E"/>
                          </a:solidFill>
                          <a:latin typeface="Freesentation-4Regular"/>
                          <a:ea typeface="Freesentation-4Regular"/>
                          <a:cs typeface="Freesentation-4Regular"/>
                        </a:rPr>
                        <a:t>지식 활용</a:t>
                      </a:r>
                    </a:p>
                  </a:txBody>
                  <a:tcPr marL="91440" marR="91440" marT="45720" marB="45720">
                    <a:solidFill>
                      <a:srgbClr val="F1EDF7"/>
                    </a:solidFill>
                  </a:tcPr>
                </a:tc>
                <a:tc>
                  <a:txBody>
                    <a:bodyPr/>
                    <a:lstStyle/>
                    <a:p>
                      <a:r>
                        <a:rPr sz="1950" b="0">
                          <a:solidFill>
                            <a:srgbClr val="262626"/>
                          </a:solidFill>
                          <a:latin typeface="Freesentation-4Regular"/>
                          <a:ea typeface="Freesentation-4Regular"/>
                          <a:cs typeface="Freesentation-4Regular"/>
                        </a:rPr>
                        <a:t>그래프·원천 조회, 근거 답변</a:t>
                      </a:r>
                    </a:p>
                    <a:p>
                      <a:r>
                        <a:rPr sz="1950" b="0">
                          <a:solidFill>
                            <a:srgbClr val="262626"/>
                          </a:solidFill>
                          <a:latin typeface="Freesentation-4Regular"/>
                          <a:ea typeface="Freesentation-4Regular"/>
                          <a:cs typeface="Freesentation-4Regular"/>
                        </a:rPr>
                        <a:t>MCP 도구와 에이전트 연계</a:t>
                      </a:r>
                    </a:p>
                  </a:txBody>
                  <a:tcPr marL="91440" marR="91440" marT="45720" marB="45720">
                    <a:solidFill>
                      <a:srgbClr val="F6F8F9"/>
                    </a:solidFill>
                  </a:tcPr>
                </a:tc>
                <a:tc>
                  <a:txBody>
                    <a:bodyPr/>
                    <a:lstStyle/>
                    <a:p>
                      <a:r>
                        <a:rPr sz="1950" b="0">
                          <a:solidFill>
                            <a:srgbClr val="262626"/>
                          </a:solidFill>
                          <a:latin typeface="Freesentation-4Regular"/>
                          <a:ea typeface="Freesentation-4Regular"/>
                          <a:cs typeface="Freesentation-4Regular"/>
                        </a:rPr>
                        <a:t>고객 DB/API, 인증·권한 전파</a:t>
                      </a:r>
                    </a:p>
                    <a:p>
                      <a:r>
                        <a:rPr sz="1950" b="0">
                          <a:solidFill>
                            <a:srgbClr val="262626"/>
                          </a:solidFill>
                          <a:latin typeface="Freesentation-4Regular"/>
                          <a:ea typeface="Freesentation-4Regular"/>
                          <a:cs typeface="Freesentation-4Regular"/>
                        </a:rPr>
                        <a:t>업무 계산 및 답변 평가셋</a:t>
                      </a:r>
                    </a:p>
                  </a:txBody>
                  <a:tcPr marL="91440" marR="91440" marT="45720" marB="45720">
                    <a:solidFill>
                      <a:srgbClr val="F6F8F9"/>
                    </a:solidFill>
                  </a:tcPr>
                </a:tc>
              </a:tr>
              <a:tr h="1028700">
                <a:tc>
                  <a:txBody>
                    <a:bodyPr/>
                    <a:lstStyle/>
                    <a:p>
                      <a:r>
                        <a:rPr sz="1950" b="1">
                          <a:solidFill>
                            <a:srgbClr val="67519E"/>
                          </a:solidFill>
                          <a:latin typeface="Freesentation-4Regular"/>
                          <a:ea typeface="Freesentation-4Regular"/>
                          <a:cs typeface="Freesentation-4Regular"/>
                        </a:rPr>
                        <a:t>업무 실행</a:t>
                      </a:r>
                    </a:p>
                  </a:txBody>
                  <a:tcPr marL="91440" marR="91440" marT="45720" marB="45720">
                    <a:solidFill>
                      <a:srgbClr val="F1EDF7"/>
                    </a:solidFill>
                  </a:tcPr>
                </a:tc>
                <a:tc>
                  <a:txBody>
                    <a:bodyPr/>
                    <a:lstStyle/>
                    <a:p>
                      <a:r>
                        <a:rPr sz="1950" b="0">
                          <a:solidFill>
                            <a:srgbClr val="262626"/>
                          </a:solidFill>
                          <a:latin typeface="Freesentation-4Regular"/>
                          <a:ea typeface="Freesentation-4Regular"/>
                          <a:cs typeface="Freesentation-4Regular"/>
                        </a:rPr>
                        <a:t>BPMN, 에이전트 태스크</a:t>
                      </a:r>
                    </a:p>
                    <a:p>
                      <a:r>
                        <a:rPr sz="1950" b="0">
                          <a:solidFill>
                            <a:srgbClr val="262626"/>
                          </a:solidFill>
                          <a:latin typeface="Freesentation-4Regular"/>
                          <a:ea typeface="Freesentation-4Regular"/>
                          <a:cs typeface="Freesentation-4Regular"/>
                        </a:rPr>
                        <a:t>사람 승인과 실행 결과 확인</a:t>
                      </a:r>
                    </a:p>
                  </a:txBody>
                  <a:tcPr marL="91440" marR="91440" marT="45720" marB="45720">
                    <a:solidFill>
                      <a:srgbClr val="FFFFFF"/>
                    </a:solidFill>
                  </a:tcPr>
                </a:tc>
                <a:tc>
                  <a:txBody>
                    <a:bodyPr/>
                    <a:lstStyle/>
                    <a:p>
                      <a:r>
                        <a:rPr sz="1950" b="0">
                          <a:solidFill>
                            <a:srgbClr val="262626"/>
                          </a:solidFill>
                          <a:latin typeface="Freesentation-4Regular"/>
                          <a:ea typeface="Freesentation-4Regular"/>
                          <a:cs typeface="Freesentation-4Regular"/>
                        </a:rPr>
                        <a:t>심사 절차·양식, 내부 결재</a:t>
                      </a:r>
                    </a:p>
                    <a:p>
                      <a:r>
                        <a:rPr sz="1950" b="0">
                          <a:solidFill>
                            <a:srgbClr val="262626"/>
                          </a:solidFill>
                          <a:latin typeface="Freesentation-4Regular"/>
                          <a:ea typeface="Freesentation-4Regular"/>
                          <a:cs typeface="Freesentation-4Regular"/>
                        </a:rPr>
                        <a:t>계정계 및 문서 시스템 연동</a:t>
                      </a:r>
                    </a:p>
                  </a:txBody>
                  <a:tcPr marL="91440" marR="91440" marT="45720" marB="45720">
                    <a:solidFill>
                      <a:srgbClr val="FFFFFF"/>
                    </a:solidFill>
                  </a:tcPr>
                </a:tc>
              </a:tr>
              <a:tr h="1028700">
                <a:tc>
                  <a:txBody>
                    <a:bodyPr/>
                    <a:lstStyle/>
                    <a:p>
                      <a:r>
                        <a:rPr sz="1950" b="1">
                          <a:solidFill>
                            <a:srgbClr val="67519E"/>
                          </a:solidFill>
                          <a:latin typeface="Freesentation-4Regular"/>
                          <a:ea typeface="Freesentation-4Regular"/>
                          <a:cs typeface="Freesentation-4Regular"/>
                        </a:rPr>
                        <a:t>지속 운영</a:t>
                      </a:r>
                    </a:p>
                  </a:txBody>
                  <a:tcPr marL="91440" marR="91440" marT="45720" marB="45720">
                    <a:solidFill>
                      <a:srgbClr val="F1EDF7"/>
                    </a:solidFill>
                  </a:tcPr>
                </a:tc>
                <a:tc>
                  <a:txBody>
                    <a:bodyPr/>
                    <a:lstStyle/>
                    <a:p>
                      <a:r>
                        <a:rPr sz="1950" b="0">
                          <a:solidFill>
                            <a:srgbClr val="262626"/>
                          </a:solidFill>
                          <a:latin typeface="Freesentation-4Regular"/>
                          <a:ea typeface="Freesentation-4Regular"/>
                          <a:cs typeface="Freesentation-4Regular"/>
                        </a:rPr>
                        <a:t>재발행 / 확장 데모의 이력·시점 조회</a:t>
                      </a:r>
                    </a:p>
                  </a:txBody>
                  <a:tcPr marL="91440" marR="91440" marT="45720" marB="45720">
                    <a:solidFill>
                      <a:srgbClr val="F6F8F9"/>
                    </a:solidFill>
                  </a:tcPr>
                </a:tc>
                <a:tc>
                  <a:txBody>
                    <a:bodyPr/>
                    <a:lstStyle/>
                    <a:p>
                      <a:r>
                        <a:rPr sz="1950" b="0">
                          <a:solidFill>
                            <a:srgbClr val="262626"/>
                          </a:solidFill>
                          <a:latin typeface="Freesentation-4Regular"/>
                          <a:ea typeface="Freesentation-4Regular"/>
                          <a:cs typeface="Freesentation-4Regular"/>
                        </a:rPr>
                        <a:t>변경 감지·증분 재처리</a:t>
                      </a:r>
                    </a:p>
                    <a:p>
                      <a:r>
                        <a:rPr sz="1950" b="0">
                          <a:solidFill>
                            <a:srgbClr val="262626"/>
                          </a:solidFill>
                          <a:latin typeface="Freesentation-4Regular"/>
                          <a:ea typeface="Freesentation-4Regular"/>
                          <a:cs typeface="Freesentation-4Regular"/>
                        </a:rPr>
                        <a:t>통합 영향도·승인 배포·복구</a:t>
                      </a:r>
                    </a:p>
                  </a:txBody>
                  <a:tcPr marL="91440" marR="91440" marT="45720" marB="45720">
                    <a:solidFill>
                      <a:srgbClr val="F6F8F9"/>
                    </a:solidFill>
                  </a:tcPr>
                </a:tc>
              </a:tr>
            </a:tbl>
          </a:graphicData>
        </a:graphic>
      </p:graphicFrame>
    </p:spTree>
    <p:extLst>
      <p:ext uri="{BB962C8B-B14F-4D97-AF65-F5344CB8AC3E}">
        <p14:creationId xmlns:p14="http://schemas.microsoft.com/office/powerpoint/2010/main" val="10635468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8AE2CE-C30A-4BBC-B9DB-36B04A4B4B97}"/>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yvdfkq-74-44">
            <a:extLst xmlns:a="http://schemas.openxmlformats.org/drawingml/2006/main">
              <a:ext uri="{FF2B5EF4-FFF2-40B4-BE49-F238E27FC236}">
                <a16:creationId xmlns:a16="http://schemas.microsoft.com/office/drawing/2014/main" id="{10B5F4B9-62EA-439D-9829-965FF5C6723C}"/>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연금계좌 상품 편입 심사의 지식 구조</a:t>
            </a:r>
          </a:p>
        </p:txBody>
      </p:sp>
      <p:sp>
        <p:nvSpPr>
          <p:cNvPr id="3" name="text-yvdfkq-74-131">
            <a:extLst xmlns:a="http://schemas.openxmlformats.org/drawingml/2006/main">
              <a:ext uri="{FF2B5EF4-FFF2-40B4-BE49-F238E27FC236}">
                <a16:creationId xmlns:a16="http://schemas.microsoft.com/office/drawing/2014/main" id="{46B4E0F8-E731-4933-A82F-A788D641E97A}"/>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계좌계·고객정보·상품계와 문서 조항을 연결한 실행 예시</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94ebfd68fb9408d"/>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yvdfkq-80-841">
            <a:extLst xmlns:a="http://schemas.openxmlformats.org/drawingml/2006/main">
              <a:ext uri="{FF2B5EF4-FFF2-40B4-BE49-F238E27FC236}">
                <a16:creationId xmlns:a16="http://schemas.microsoft.com/office/drawing/2014/main" id="{35F76425-31DC-48BD-8B45-8A619E83DB43}"/>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05 증권 샘플</a:t>
            </a:r>
          </a:p>
        </p:txBody>
      </p:sp>
      <p:sp>
        <p:nvSpPr>
          <p:cNvPr id="6" name="text-yvdfkq-1470-839">
            <a:extLst xmlns:a="http://schemas.openxmlformats.org/drawingml/2006/main">
              <a:ext uri="{FF2B5EF4-FFF2-40B4-BE49-F238E27FC236}">
                <a16:creationId xmlns:a16="http://schemas.microsoft.com/office/drawing/2014/main" id="{FE9AAEC0-6CD9-49DF-B8FD-707DE285BB2E}"/>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18</a:t>
            </a:r>
          </a:p>
        </p:txBody>
      </p:sp>
      <p:graphicFrame>
        <p:nvGraphicFramePr>
          <p:cNvPr id="16" name=""/>
          <p:cNvGraphicFramePr/>
          <p:nvPr/>
        </p:nvGraphicFramePr>
        <p:xfrm>
          <a:off xmlns:a="http://schemas.openxmlformats.org/drawingml/2006/main" x="762000" y="2152650"/>
          <a:ext xmlns:a="http://schemas.openxmlformats.org/drawingml/2006/main" cx="13716000" cy="4257675"/>
        </p:xfrm>
        <a:graphic xmlns:a="http://schemas.openxmlformats.org/drawingml/2006/main">
          <a:graphicData uri="http://schemas.openxmlformats.org/drawingml/2006/table">
            <a:tbl>
              <a:tblPr/>
              <a:tblGrid>
                <a:gridCol w="3143250"/>
                <a:gridCol w="6191250"/>
                <a:gridCol w="4381500"/>
              </a:tblGrid>
              <a:tr h="609600">
                <a:tc>
                  <a:txBody>
                    <a:bodyPr/>
                    <a:lstStyle/>
                    <a:p>
                      <a:r>
                        <a:rPr sz="1800" b="1">
                          <a:solidFill>
                            <a:srgbClr val="FFFFFF"/>
                          </a:solidFill>
                          <a:latin typeface="Freesentation-4Regular"/>
                          <a:ea typeface="Freesentation-4Regular"/>
                          <a:cs typeface="Freesentation-4Regular"/>
                        </a:rPr>
                        <a:t>지식 영역</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샘플 구성</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저장·조회 방식</a:t>
                      </a:r>
                    </a:p>
                  </a:txBody>
                  <a:tcPr marL="91440" marR="91440" marT="45720" marB="45720">
                    <a:solidFill>
                      <a:srgbClr val="67519E"/>
                    </a:solidFill>
                  </a:tcPr>
                </a:tc>
              </a:tr>
              <a:tr h="1216025">
                <a:tc>
                  <a:txBody>
                    <a:bodyPr/>
                    <a:lstStyle/>
                    <a:p>
                      <a:r>
                        <a:rPr sz="2025" b="1">
                          <a:solidFill>
                            <a:srgbClr val="67519E"/>
                          </a:solidFill>
                          <a:latin typeface="Freesentation-4Regular"/>
                          <a:ea typeface="Freesentation-4Regular"/>
                          <a:cs typeface="Freesentation-4Regular"/>
                        </a:rPr>
                        <a:t>고객·계좌·보유·상품</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PostgreSQL 계좌계</a:t>
                      </a:r>
                    </a:p>
                    <a:p>
                      <a:r>
                        <a:rPr sz="2025" b="0">
                          <a:solidFill>
                            <a:srgbClr val="262626"/>
                          </a:solidFill>
                          <a:latin typeface="Freesentation-4Regular"/>
                          <a:ea typeface="Freesentation-4Regular"/>
                          <a:cs typeface="Freesentation-4Regular"/>
                        </a:rPr>
                        <a:t>MySQL 고객정보·상품계</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가상 클래스 7종</a:t>
                      </a:r>
                    </a:p>
                    <a:p>
                      <a:r>
                        <a:rPr sz="2025" b="0">
                          <a:solidFill>
                            <a:srgbClr val="262626"/>
                          </a:solidFill>
                          <a:latin typeface="Freesentation-4Regular"/>
                          <a:ea typeface="Freesentation-4Regular"/>
                          <a:cs typeface="Freesentation-4Regular"/>
                        </a:rPr>
                        <a:t>실제 값은 원천 DB에서 조회</a:t>
                      </a:r>
                    </a:p>
                  </a:txBody>
                  <a:tcPr marL="91440" marR="91440" marT="45720" marB="45720">
                    <a:solidFill>
                      <a:srgbClr val="FFFFFF"/>
                    </a:solidFill>
                  </a:tcPr>
                </a:tc>
              </a:tr>
              <a:tr h="1216025">
                <a:tc>
                  <a:txBody>
                    <a:bodyPr/>
                    <a:lstStyle/>
                    <a:p>
                      <a:r>
                        <a:rPr sz="2025" b="1">
                          <a:solidFill>
                            <a:srgbClr val="67519E"/>
                          </a:solidFill>
                          <a:latin typeface="Freesentation-4Regular"/>
                          <a:ea typeface="Freesentation-4Regular"/>
                          <a:cs typeface="Freesentation-4Regular"/>
                        </a:rPr>
                        <a:t>문서와 조항</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문서 5개, 버전 6개, 조항 15개</a:t>
                      </a:r>
                    </a:p>
                    <a:p>
                      <a:r>
                        <a:rPr sz="2025" b="0">
                          <a:solidFill>
                            <a:srgbClr val="262626"/>
                          </a:solidFill>
                          <a:latin typeface="Freesentation-4Regular"/>
                          <a:ea typeface="Freesentation-4Regular"/>
                          <a:cs typeface="Freesentation-4Regular"/>
                        </a:rPr>
                        <a:t>개정·예외·참조 관계</a:t>
                      </a:r>
                    </a:p>
                  </a:txBody>
                  <a:tcPr marL="91440" marR="91440" marT="45720" marB="45720">
                    <a:solidFill>
                      <a:srgbClr val="F6F8F9"/>
                    </a:solidFill>
                  </a:tcPr>
                </a:tc>
                <a:tc>
                  <a:txBody>
                    <a:bodyPr/>
                    <a:lstStyle/>
                    <a:p>
                      <a:r>
                        <a:rPr sz="2025" b="0">
                          <a:solidFill>
                            <a:srgbClr val="262626"/>
                          </a:solidFill>
                          <a:latin typeface="Freesentation-4Regular"/>
                          <a:ea typeface="Freesentation-4Regular"/>
                          <a:cs typeface="Freesentation-4Regular"/>
                        </a:rPr>
                        <a:t>문서·버전·조항 3종을</a:t>
                      </a:r>
                    </a:p>
                    <a:p>
                      <a:r>
                        <a:rPr sz="2025" b="0">
                          <a:solidFill>
                            <a:srgbClr val="262626"/>
                          </a:solidFill>
                          <a:latin typeface="Freesentation-4Regular"/>
                          <a:ea typeface="Freesentation-4Regular"/>
                          <a:cs typeface="Freesentation-4Regular"/>
                        </a:rPr>
                        <a:t>그래프에 저장</a:t>
                      </a:r>
                    </a:p>
                  </a:txBody>
                  <a:tcPr marL="91440" marR="91440" marT="45720" marB="45720">
                    <a:solidFill>
                      <a:srgbClr val="F6F8F9"/>
                    </a:solidFill>
                  </a:tcPr>
                </a:tc>
              </a:tr>
              <a:tr h="1216025">
                <a:tc>
                  <a:txBody>
                    <a:bodyPr/>
                    <a:lstStyle/>
                    <a:p>
                      <a:r>
                        <a:rPr sz="2025" b="1">
                          <a:solidFill>
                            <a:srgbClr val="67519E"/>
                          </a:solidFill>
                          <a:latin typeface="Freesentation-4Regular"/>
                          <a:ea typeface="Freesentation-4Regular"/>
                          <a:cs typeface="Freesentation-4Regular"/>
                        </a:rPr>
                        <a:t>판단 개념</a:t>
                      </a:r>
                    </a:p>
                  </a:txBody>
                  <a:tcPr marL="91440" marR="91440" marT="45720" marB="45720">
                    <a:solidFill>
                      <a:srgbClr val="F1EDF7"/>
                    </a:solidFill>
                  </a:tcPr>
                </a:tc>
                <a:tc>
                  <a:txBody>
                    <a:bodyPr/>
                    <a:lstStyle/>
                    <a:p>
                      <a:r>
                        <a:rPr sz="2025" b="0">
                          <a:solidFill>
                            <a:srgbClr val="262626"/>
                          </a:solidFill>
                          <a:latin typeface="Freesentation-4Regular"/>
                          <a:ea typeface="Freesentation-4Regular"/>
                          <a:cs typeface="Freesentation-4Regular"/>
                        </a:rPr>
                        <a:t>적합성, 자산분류, 위험자산 한도</a:t>
                      </a:r>
                    </a:p>
                    <a:p>
                      <a:r>
                        <a:rPr sz="2025" b="0">
                          <a:solidFill>
                            <a:srgbClr val="262626"/>
                          </a:solidFill>
                          <a:latin typeface="Freesentation-4Regular"/>
                          <a:ea typeface="Freesentation-4Regular"/>
                          <a:cs typeface="Freesentation-4Regular"/>
                        </a:rPr>
                        <a:t>기초자산 집중, 판정 기록</a:t>
                      </a:r>
                    </a:p>
                  </a:txBody>
                  <a:tcPr marL="91440" marR="91440" marT="45720" marB="45720">
                    <a:solidFill>
                      <a:srgbClr val="FFFFFF"/>
                    </a:solidFill>
                  </a:tcPr>
                </a:tc>
                <a:tc>
                  <a:txBody>
                    <a:bodyPr/>
                    <a:lstStyle/>
                    <a:p>
                      <a:r>
                        <a:rPr sz="2025" b="0">
                          <a:solidFill>
                            <a:srgbClr val="262626"/>
                          </a:solidFill>
                          <a:latin typeface="Freesentation-4Regular"/>
                          <a:ea typeface="Freesentation-4Regular"/>
                          <a:cs typeface="Freesentation-4Regular"/>
                        </a:rPr>
                        <a:t>규칙과 근거 조항을</a:t>
                      </a:r>
                    </a:p>
                    <a:p>
                      <a:r>
                        <a:rPr sz="2025" b="0">
                          <a:solidFill>
                            <a:srgbClr val="262626"/>
                          </a:solidFill>
                          <a:latin typeface="Freesentation-4Regular"/>
                          <a:ea typeface="Freesentation-4Regular"/>
                          <a:cs typeface="Freesentation-4Regular"/>
                        </a:rPr>
                        <a:t>판단 개념 5종에 연결</a:t>
                      </a:r>
                    </a:p>
                  </a:txBody>
                  <a:tcPr marL="91440" marR="91440" marT="45720" marB="45720">
                    <a:solidFill>
                      <a:srgbClr val="FFFFFF"/>
                    </a:solidFill>
                  </a:tcPr>
                </a:tc>
              </a:tr>
            </a:tbl>
          </a:graphicData>
        </a:graphic>
      </p:graphicFrame>
      <p:sp>
        <p:nvSpPr>
          <p:cNvPr id="8" name="text-yvdfkq-80-682">
            <a:extLst xmlns:a="http://schemas.openxmlformats.org/drawingml/2006/main">
              <a:ext uri="{FF2B5EF4-FFF2-40B4-BE49-F238E27FC236}">
                <a16:creationId xmlns:a16="http://schemas.microsoft.com/office/drawing/2014/main" id="{6FD619C0-2515-42EB-A006-E570C6ACA963}"/>
              </a:ext>
            </a:extLst>
          </p:cNvPr>
          <p:cNvSpPr>
            <a:spLocks xmlns:a="http://schemas.openxmlformats.org/drawingml/2006/main" noGrp="1"/>
          </p:cNvSpPr>
          <p:nvPr/>
        </p:nvSpPr>
        <p:spPr>
          <a:xfrm xmlns:a="http://schemas.openxmlformats.org/drawingml/2006/main">
            <a:off x="762000" y="6496050"/>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67519E"/>
                </a:solidFill>
                <a:latin typeface="GmarketSansMedium"/>
                <a:ea typeface="GmarketSansMedium"/>
                <a:cs typeface="GmarketSansMedium"/>
              </a:defRPr>
            </a:pPr>
            <a:r>
              <a:rPr sz="2175" b="1">
                <a:solidFill>
                  <a:srgbClr val="67519E"/>
                </a:solidFill>
                <a:latin typeface="GmarketSansMedium"/>
                <a:ea typeface="GmarketSansMedium"/>
                <a:cs typeface="GmarketSansMedium"/>
              </a:rPr>
              <a:t>전체 클래스 15종 / 관계 18종</a:t>
            </a:r>
          </a:p>
        </p:txBody>
      </p:sp>
      <p:sp>
        <p:nvSpPr>
          <p:cNvPr id="9" name="text-yvdfkq-80-737">
            <a:extLst xmlns:a="http://schemas.openxmlformats.org/drawingml/2006/main">
              <a:ext uri="{FF2B5EF4-FFF2-40B4-BE49-F238E27FC236}">
                <a16:creationId xmlns:a16="http://schemas.microsoft.com/office/drawing/2014/main" id="{8B00E3A6-5F59-4966-BCA4-F1C46304E1C4}"/>
              </a:ext>
            </a:extLst>
          </p:cNvPr>
          <p:cNvSpPr>
            <a:spLocks xmlns:a="http://schemas.openxmlformats.org/drawingml/2006/main" noGrp="1"/>
          </p:cNvSpPr>
          <p:nvPr/>
        </p:nvSpPr>
        <p:spPr>
          <a:xfrm xmlns:a="http://schemas.openxmlformats.org/drawingml/2006/main">
            <a:off x="762000" y="7019925"/>
            <a:ext cx="1362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86868"/>
                </a:solidFill>
                <a:latin typeface="Freesentation-4Regular"/>
                <a:ea typeface="Freesentation-4Regular"/>
                <a:cs typeface="Freesentation-4Regular"/>
              </a:defRPr>
            </a:pPr>
            <a:r>
              <a:rPr sz="1575" b="0">
                <a:solidFill>
                  <a:srgbClr val="686868"/>
                </a:solidFill>
                <a:latin typeface="Freesentation-4Regular"/>
                <a:ea typeface="Freesentation-4Regular"/>
                <a:cs typeface="Freesentation-4Regular"/>
              </a:rPr>
              <a:t>증권 고객·상품·조항·수치는 모델링 예시이며 실제 법령·약관 판정이 아닙니다.</a:t>
            </a:r>
          </a:p>
        </p:txBody>
      </p:sp>
    </p:spTree>
    <p:extLst>
      <p:ext uri="{BB962C8B-B14F-4D97-AF65-F5344CB8AC3E}">
        <p14:creationId xmlns:p14="http://schemas.microsoft.com/office/powerpoint/2010/main" val="8943668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7530D8C-9578-42D8-8515-A79897B81099}"/>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tf5t2b-74-44">
            <a:extLst xmlns:a="http://schemas.openxmlformats.org/drawingml/2006/main">
              <a:ext uri="{FF2B5EF4-FFF2-40B4-BE49-F238E27FC236}">
                <a16:creationId xmlns:a16="http://schemas.microsoft.com/office/drawing/2014/main" id="{9F0E8CF3-F8C9-4B13-AB01-F64C84A9C903}"/>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상품 마스터와 개정 조항이 다를 때</a:t>
            </a:r>
          </a:p>
        </p:txBody>
      </p:sp>
      <p:sp>
        <p:nvSpPr>
          <p:cNvPr id="3" name="text-tf5t2b-74-131">
            <a:extLst xmlns:a="http://schemas.openxmlformats.org/drawingml/2006/main">
              <a:ext uri="{FF2B5EF4-FFF2-40B4-BE49-F238E27FC236}">
                <a16:creationId xmlns:a16="http://schemas.microsoft.com/office/drawing/2014/main" id="{BF9FF79E-0D31-4237-A595-7E36CB85FAD1}"/>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샘플 질문: IRP 계좌에 ELS 3,000만원을 편입할 수 있나요?</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6e94adc5daa450e"/>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tf5t2b-80-841">
            <a:extLst xmlns:a="http://schemas.openxmlformats.org/drawingml/2006/main">
              <a:ext uri="{FF2B5EF4-FFF2-40B4-BE49-F238E27FC236}">
                <a16:creationId xmlns:a16="http://schemas.microsoft.com/office/drawing/2014/main" id="{DB5F0B08-758E-4649-ACA4-95F80DCB0DB5}"/>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05 증권 샘플</a:t>
            </a:r>
          </a:p>
        </p:txBody>
      </p:sp>
      <p:sp>
        <p:nvSpPr>
          <p:cNvPr id="6" name="text-tf5t2b-1470-839">
            <a:extLst xmlns:a="http://schemas.openxmlformats.org/drawingml/2006/main">
              <a:ext uri="{FF2B5EF4-FFF2-40B4-BE49-F238E27FC236}">
                <a16:creationId xmlns:a16="http://schemas.microsoft.com/office/drawing/2014/main" id="{203F2B96-79BE-4E1A-94A5-EF5E7E7E8E73}"/>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19</a:t>
            </a:r>
          </a:p>
        </p:txBody>
      </p:sp>
      <p:sp>
        <p:nvSpPr>
          <p:cNvPr id="7" name="text-tf5t2b-80-235">
            <a:extLst xmlns:a="http://schemas.openxmlformats.org/drawingml/2006/main">
              <a:ext uri="{FF2B5EF4-FFF2-40B4-BE49-F238E27FC236}">
                <a16:creationId xmlns:a16="http://schemas.microsoft.com/office/drawing/2014/main" id="{BB2E57F7-1C39-4018-8AE3-6AF971EE565C}"/>
              </a:ext>
            </a:extLst>
          </p:cNvPr>
          <p:cNvSpPr>
            <a:spLocks xmlns:a="http://schemas.openxmlformats.org/drawingml/2006/main" noGrp="1"/>
          </p:cNvSpPr>
          <p:nvPr/>
        </p:nvSpPr>
        <p:spPr>
          <a:xfrm xmlns:a="http://schemas.openxmlformats.org/drawingml/2006/main">
            <a:off x="762000" y="22383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686868"/>
                </a:solidFill>
                <a:latin typeface="GmarketSansMedium"/>
                <a:ea typeface="GmarketSansMedium"/>
                <a:cs typeface="GmarketSansMedium"/>
              </a:defRPr>
            </a:pPr>
            <a:r>
              <a:rPr sz="2100" b="1">
                <a:solidFill>
                  <a:srgbClr val="686868"/>
                </a:solidFill>
                <a:latin typeface="GmarketSansMedium"/>
                <a:ea typeface="GmarketSansMedium"/>
                <a:cs typeface="GmarketSansMedium"/>
              </a:rPr>
              <a:t>상품 마스터</a:t>
            </a:r>
          </a:p>
        </p:txBody>
      </p:sp>
      <p:sp>
        <p:nvSpPr>
          <p:cNvPr id="8" name="text-tf5t2b-80-296">
            <a:extLst xmlns:a="http://schemas.openxmlformats.org/drawingml/2006/main">
              <a:ext uri="{FF2B5EF4-FFF2-40B4-BE49-F238E27FC236}">
                <a16:creationId xmlns:a16="http://schemas.microsoft.com/office/drawing/2014/main" id="{55230983-3B41-4777-A90D-DCD7BA96EE8B}"/>
              </a:ext>
            </a:extLst>
          </p:cNvPr>
          <p:cNvSpPr>
            <a:spLocks xmlns:a="http://schemas.openxmlformats.org/drawingml/2006/main" noGrp="1"/>
          </p:cNvSpPr>
          <p:nvPr/>
        </p:nvSpPr>
        <p:spPr>
          <a:xfrm xmlns:a="http://schemas.openxmlformats.org/drawingml/2006/main">
            <a:off x="762000" y="28194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262626"/>
                </a:solidFill>
                <a:latin typeface="GmarketSansMedium"/>
                <a:ea typeface="GmarketSansMedium"/>
                <a:cs typeface="GmarketSansMedium"/>
              </a:defRPr>
            </a:pPr>
            <a:r>
              <a:rPr sz="5250" b="1">
                <a:solidFill>
                  <a:srgbClr val="262626"/>
                </a:solidFill>
                <a:latin typeface="GmarketSansMedium"/>
                <a:ea typeface="GmarketSansMedium"/>
                <a:cs typeface="GmarketSansMedium"/>
              </a:rPr>
              <a:t>SAFE</a:t>
            </a:r>
          </a:p>
        </p:txBody>
      </p:sp>
      <p:sp>
        <p:nvSpPr>
          <p:cNvPr id="9" name="text-tf5t2b-80-411">
            <a:extLst xmlns:a="http://schemas.openxmlformats.org/drawingml/2006/main">
              <a:ext uri="{FF2B5EF4-FFF2-40B4-BE49-F238E27FC236}">
                <a16:creationId xmlns:a16="http://schemas.microsoft.com/office/drawing/2014/main" id="{AA240EE0-F50B-4C70-B642-B93CB1CEA84F}"/>
              </a:ext>
            </a:extLst>
          </p:cNvPr>
          <p:cNvSpPr>
            <a:spLocks xmlns:a="http://schemas.openxmlformats.org/drawingml/2006/main" noGrp="1"/>
          </p:cNvSpPr>
          <p:nvPr/>
        </p:nvSpPr>
        <p:spPr>
          <a:xfrm xmlns:a="http://schemas.openxmlformats.org/drawingml/2006/main">
            <a:off x="762000" y="3914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262626"/>
                </a:solidFill>
                <a:latin typeface="Freesentation-4Regular"/>
                <a:ea typeface="Freesentation-4Regular"/>
                <a:cs typeface="Freesentation-4Regular"/>
              </a:defRPr>
            </a:pPr>
            <a:r>
              <a:rPr sz="2325" b="0">
                <a:solidFill>
                  <a:srgbClr val="262626"/>
                </a:solidFill>
                <a:latin typeface="Freesentation-4Regular"/>
                <a:ea typeface="Freesentation-4Regular"/>
                <a:cs typeface="Freesentation-4Regular"/>
              </a:rPr>
              <a:t>등록 당시 안전자산 분류</a:t>
            </a:r>
          </a:p>
        </p:txBody>
      </p:sp>
      <p:sp>
        <p:nvSpPr>
          <p:cNvPr id="10" name="text-tf5t2b-830-235">
            <a:extLst xmlns:a="http://schemas.openxmlformats.org/drawingml/2006/main">
              <a:ext uri="{FF2B5EF4-FFF2-40B4-BE49-F238E27FC236}">
                <a16:creationId xmlns:a16="http://schemas.microsoft.com/office/drawing/2014/main" id="{B7739B0B-CF9F-497B-82D5-60C42722DAC4}"/>
              </a:ext>
            </a:extLst>
          </p:cNvPr>
          <p:cNvSpPr>
            <a:spLocks xmlns:a="http://schemas.openxmlformats.org/drawingml/2006/main" noGrp="1"/>
          </p:cNvSpPr>
          <p:nvPr/>
        </p:nvSpPr>
        <p:spPr>
          <a:xfrm xmlns:a="http://schemas.openxmlformats.org/drawingml/2006/main">
            <a:off x="7905750" y="223837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686868"/>
                </a:solidFill>
                <a:latin typeface="GmarketSansMedium"/>
                <a:ea typeface="GmarketSansMedium"/>
                <a:cs typeface="GmarketSansMedium"/>
              </a:defRPr>
            </a:pPr>
            <a:r>
              <a:rPr sz="2100" b="1">
                <a:solidFill>
                  <a:srgbClr val="686868"/>
                </a:solidFill>
                <a:latin typeface="GmarketSansMedium"/>
                <a:ea typeface="GmarketSansMedium"/>
                <a:cs typeface="GmarketSansMedium"/>
              </a:rPr>
              <a:t>기준일의 개정 조항 적용</a:t>
            </a:r>
          </a:p>
        </p:txBody>
      </p:sp>
      <p:sp>
        <p:nvSpPr>
          <p:cNvPr id="11" name="text-tf5t2b-830-296">
            <a:extLst xmlns:a="http://schemas.openxmlformats.org/drawingml/2006/main">
              <a:ext uri="{FF2B5EF4-FFF2-40B4-BE49-F238E27FC236}">
                <a16:creationId xmlns:a16="http://schemas.microsoft.com/office/drawing/2014/main" id="{8A857DE5-821B-4ADB-9201-74224062B3CC}"/>
              </a:ext>
            </a:extLst>
          </p:cNvPr>
          <p:cNvSpPr>
            <a:spLocks xmlns:a="http://schemas.openxmlformats.org/drawingml/2006/main" noGrp="1"/>
          </p:cNvSpPr>
          <p:nvPr/>
        </p:nvSpPr>
        <p:spPr>
          <a:xfrm xmlns:a="http://schemas.openxmlformats.org/drawingml/2006/main">
            <a:off x="7905750" y="2819400"/>
            <a:ext cx="647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950" b="1">
                <a:solidFill>
                  <a:srgbClr val="67519E"/>
                </a:solidFill>
                <a:latin typeface="GmarketSansMedium"/>
                <a:ea typeface="GmarketSansMedium"/>
                <a:cs typeface="GmarketSansMedium"/>
              </a:defRPr>
            </a:pPr>
            <a:r>
              <a:rPr sz="4950" b="1">
                <a:solidFill>
                  <a:srgbClr val="67519E"/>
                </a:solidFill>
                <a:latin typeface="GmarketSansMedium"/>
                <a:ea typeface="GmarketSansMedium"/>
                <a:cs typeface="GmarketSansMedium"/>
              </a:rPr>
              <a:t>위험자산</a:t>
            </a:r>
          </a:p>
        </p:txBody>
      </p:sp>
      <p:sp>
        <p:nvSpPr>
          <p:cNvPr id="12" name="text-tf5t2b-830-411">
            <a:extLst xmlns:a="http://schemas.openxmlformats.org/drawingml/2006/main">
              <a:ext uri="{FF2B5EF4-FFF2-40B4-BE49-F238E27FC236}">
                <a16:creationId xmlns:a16="http://schemas.microsoft.com/office/drawing/2014/main" id="{8DF68464-6000-4838-A119-40A70679706B}"/>
              </a:ext>
            </a:extLst>
          </p:cNvPr>
          <p:cNvSpPr>
            <a:spLocks xmlns:a="http://schemas.openxmlformats.org/drawingml/2006/main" noGrp="1"/>
          </p:cNvSpPr>
          <p:nvPr/>
        </p:nvSpPr>
        <p:spPr>
          <a:xfrm xmlns:a="http://schemas.openxmlformats.org/drawingml/2006/main">
            <a:off x="7905750" y="391477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262626"/>
                </a:solidFill>
                <a:latin typeface="Freesentation-4Regular"/>
                <a:ea typeface="Freesentation-4Regular"/>
                <a:cs typeface="Freesentation-4Regular"/>
              </a:defRPr>
            </a:pPr>
            <a:r>
              <a:rPr sz="2325" b="0">
                <a:solidFill>
                  <a:srgbClr val="262626"/>
                </a:solidFill>
                <a:latin typeface="Freesentation-4Regular"/>
                <a:ea typeface="Freesentation-4Regular"/>
                <a:cs typeface="Freesentation-4Regular"/>
              </a:rPr>
              <a:t>원금지급비율 90% &lt; 예시 기준 95%</a:t>
            </a:r>
          </a:p>
        </p:txBody>
      </p:sp>
      <p:sp>
        <p:nvSpPr>
          <p:cNvPr id="13" name="text-tf5t2b-80-550">
            <a:extLst xmlns:a="http://schemas.openxmlformats.org/drawingml/2006/main">
              <a:ext uri="{FF2B5EF4-FFF2-40B4-BE49-F238E27FC236}">
                <a16:creationId xmlns:a16="http://schemas.microsoft.com/office/drawing/2014/main" id="{D8DF1EE0-922D-4F56-B078-A9F88086D7DF}"/>
              </a:ext>
            </a:extLst>
          </p:cNvPr>
          <p:cNvSpPr>
            <a:spLocks xmlns:a="http://schemas.openxmlformats.org/drawingml/2006/main" noGrp="1"/>
          </p:cNvSpPr>
          <p:nvPr/>
        </p:nvSpPr>
        <p:spPr>
          <a:xfrm xmlns:a="http://schemas.openxmlformats.org/drawingml/2006/main">
            <a:off x="762000" y="5238750"/>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62626"/>
                </a:solidFill>
                <a:latin typeface="GmarketSansMedium"/>
                <a:ea typeface="GmarketSansMedium"/>
                <a:cs typeface="GmarketSansMedium"/>
              </a:defRPr>
            </a:pPr>
            <a:r>
              <a:rPr sz="3300" b="1">
                <a:solidFill>
                  <a:srgbClr val="262626"/>
                </a:solidFill>
                <a:latin typeface="GmarketSansMedium"/>
                <a:ea typeface="GmarketSansMedium"/>
                <a:cs typeface="GmarketSansMedium"/>
              </a:rPr>
              <a:t>편입 후 72.5%</a:t>
            </a:r>
          </a:p>
        </p:txBody>
      </p:sp>
      <p:sp>
        <p:nvSpPr>
          <p:cNvPr id="14" name="text-tf5t2b-80-627">
            <a:extLst xmlns:a="http://schemas.openxmlformats.org/drawingml/2006/main">
              <a:ext uri="{FF2B5EF4-FFF2-40B4-BE49-F238E27FC236}">
                <a16:creationId xmlns:a16="http://schemas.microsoft.com/office/drawing/2014/main" id="{B9EF8B52-CB82-4D56-9A35-9A66C232C0A9}"/>
              </a:ext>
            </a:extLst>
          </p:cNvPr>
          <p:cNvSpPr>
            <a:spLocks xmlns:a="http://schemas.openxmlformats.org/drawingml/2006/main" noGrp="1"/>
          </p:cNvSpPr>
          <p:nvPr/>
        </p:nvSpPr>
        <p:spPr>
          <a:xfrm xmlns:a="http://schemas.openxmlformats.org/drawingml/2006/main">
            <a:off x="762000" y="59721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86868"/>
                </a:solidFill>
                <a:latin typeface="Freesentation-4Regular"/>
                <a:ea typeface="Freesentation-4Regular"/>
                <a:cs typeface="Freesentation-4Regular"/>
              </a:defRPr>
            </a:pPr>
            <a:r>
              <a:rPr sz="2025" b="0">
                <a:solidFill>
                  <a:srgbClr val="686868"/>
                </a:solidFill>
                <a:latin typeface="Freesentation-4Regular"/>
                <a:ea typeface="Freesentation-4Regular"/>
                <a:cs typeface="Freesentation-4Regular"/>
              </a:rPr>
              <a:t>(5,700만 + 3,000만) ÷ 1억 2,000만</a:t>
            </a:r>
          </a:p>
        </p:txBody>
      </p:sp>
      <p:sp>
        <p:nvSpPr>
          <p:cNvPr id="15" name="text-tf5t2b-830-550">
            <a:extLst xmlns:a="http://schemas.openxmlformats.org/drawingml/2006/main">
              <a:ext uri="{FF2B5EF4-FFF2-40B4-BE49-F238E27FC236}">
                <a16:creationId xmlns:a16="http://schemas.microsoft.com/office/drawing/2014/main" id="{112CF520-9501-4328-BD72-E2062F846EDB}"/>
              </a:ext>
            </a:extLst>
          </p:cNvPr>
          <p:cNvSpPr>
            <a:spLocks xmlns:a="http://schemas.openxmlformats.org/drawingml/2006/main" noGrp="1"/>
          </p:cNvSpPr>
          <p:nvPr/>
        </p:nvSpPr>
        <p:spPr>
          <a:xfrm xmlns:a="http://schemas.openxmlformats.org/drawingml/2006/main">
            <a:off x="7905750" y="5238750"/>
            <a:ext cx="647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67519E"/>
                </a:solidFill>
                <a:latin typeface="GmarketSansMedium"/>
                <a:ea typeface="GmarketSansMedium"/>
                <a:cs typeface="GmarketSansMedium"/>
              </a:defRPr>
            </a:pPr>
            <a:r>
              <a:rPr sz="3300" b="1">
                <a:solidFill>
                  <a:srgbClr val="67519E"/>
                </a:solidFill>
                <a:latin typeface="GmarketSansMedium"/>
                <a:ea typeface="GmarketSansMedium"/>
                <a:cs typeface="GmarketSansMedium"/>
              </a:rPr>
              <a:t>최대 2,700만원</a:t>
            </a:r>
          </a:p>
        </p:txBody>
      </p:sp>
      <p:sp>
        <p:nvSpPr>
          <p:cNvPr id="16" name="text-tf5t2b-830-627">
            <a:extLst xmlns:a="http://schemas.openxmlformats.org/drawingml/2006/main">
              <a:ext uri="{FF2B5EF4-FFF2-40B4-BE49-F238E27FC236}">
                <a16:creationId xmlns:a16="http://schemas.microsoft.com/office/drawing/2014/main" id="{F76FF5F1-6F81-47BA-9B07-3D7CACCF11DC}"/>
              </a:ext>
            </a:extLst>
          </p:cNvPr>
          <p:cNvSpPr>
            <a:spLocks xmlns:a="http://schemas.openxmlformats.org/drawingml/2006/main" noGrp="1"/>
          </p:cNvSpPr>
          <p:nvPr/>
        </p:nvSpPr>
        <p:spPr>
          <a:xfrm xmlns:a="http://schemas.openxmlformats.org/drawingml/2006/main">
            <a:off x="7905750" y="597217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86868"/>
                </a:solidFill>
                <a:latin typeface="Freesentation-4Regular"/>
                <a:ea typeface="Freesentation-4Regular"/>
                <a:cs typeface="Freesentation-4Regular"/>
              </a:defRPr>
            </a:pPr>
            <a:r>
              <a:rPr sz="2025" b="0">
                <a:solidFill>
                  <a:srgbClr val="686868"/>
                </a:solidFill>
                <a:latin typeface="Freesentation-4Regular"/>
                <a:ea typeface="Freesentation-4Regular"/>
                <a:cs typeface="Freesentation-4Regular"/>
              </a:rPr>
              <a:t>70% × 1억 2,000만 − 5,700만</a:t>
            </a:r>
          </a:p>
        </p:txBody>
      </p:sp>
      <p:sp>
        <p:nvSpPr>
          <p:cNvPr id="17" name="text-tf5t2b-80-737">
            <a:extLst xmlns:a="http://schemas.openxmlformats.org/drawingml/2006/main">
              <a:ext uri="{FF2B5EF4-FFF2-40B4-BE49-F238E27FC236}">
                <a16:creationId xmlns:a16="http://schemas.microsoft.com/office/drawing/2014/main" id="{72D5DD05-234A-4D6D-B8E7-BC1EF8A8FA16}"/>
              </a:ext>
            </a:extLst>
          </p:cNvPr>
          <p:cNvSpPr>
            <a:spLocks xmlns:a="http://schemas.openxmlformats.org/drawingml/2006/main" noGrp="1"/>
          </p:cNvSpPr>
          <p:nvPr/>
        </p:nvSpPr>
        <p:spPr>
          <a:xfrm xmlns:a="http://schemas.openxmlformats.org/drawingml/2006/main">
            <a:off x="762000" y="7019925"/>
            <a:ext cx="1362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86868"/>
                </a:solidFill>
                <a:latin typeface="Freesentation-4Regular"/>
                <a:ea typeface="Freesentation-4Regular"/>
                <a:cs typeface="Freesentation-4Regular"/>
              </a:defRPr>
            </a:pPr>
            <a:r>
              <a:rPr sz="1575" b="0">
                <a:solidFill>
                  <a:srgbClr val="686868"/>
                </a:solidFill>
                <a:latin typeface="Freesentation-4Regular"/>
                <a:ea typeface="Freesentation-4Regular"/>
                <a:cs typeface="Freesentation-4Regular"/>
              </a:rPr>
              <a:t>증권 고객·상품·조항·수치는 모델링 예시이며 실제 법령·약관 판정이 아닙니다.</a:t>
            </a:r>
          </a:p>
        </p:txBody>
      </p:sp>
    </p:spTree>
    <p:extLst>
      <p:ext uri="{BB962C8B-B14F-4D97-AF65-F5344CB8AC3E}">
        <p14:creationId xmlns:p14="http://schemas.microsoft.com/office/powerpoint/2010/main" val="13725055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5CDF9E-8A9B-4E1A-86D8-B85660917778}"/>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0zxwbt-74-44">
            <a:extLst xmlns:a="http://schemas.openxmlformats.org/drawingml/2006/main">
              <a:ext uri="{FF2B5EF4-FFF2-40B4-BE49-F238E27FC236}">
                <a16:creationId xmlns:a16="http://schemas.microsoft.com/office/drawing/2014/main" id="{94F63DA8-126B-46B4-93CB-03C04D80CAEE}"/>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근거 조항을 확인하는 실제 질의 화면</a:t>
            </a:r>
          </a:p>
        </p:txBody>
      </p:sp>
      <p:sp>
        <p:nvSpPr>
          <p:cNvPr id="3" name="text-0zxwbt-74-131">
            <a:extLst xmlns:a="http://schemas.openxmlformats.org/drawingml/2006/main">
              <a:ext uri="{FF2B5EF4-FFF2-40B4-BE49-F238E27FC236}">
                <a16:creationId xmlns:a16="http://schemas.microsoft.com/office/drawing/2014/main" id="{E7417DB8-6A0B-4A1A-AF77-28A04DB8137F}"/>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적용 버전, 예외와 경과조치까지 함께 확인</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da4438ddaac411b"/>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0zxwbt-80-841">
            <a:extLst xmlns:a="http://schemas.openxmlformats.org/drawingml/2006/main">
              <a:ext uri="{FF2B5EF4-FFF2-40B4-BE49-F238E27FC236}">
                <a16:creationId xmlns:a16="http://schemas.microsoft.com/office/drawing/2014/main" id="{08DD573B-1456-4432-8DC8-F9D6FBD5E3DE}"/>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05 증권 샘플</a:t>
            </a:r>
          </a:p>
        </p:txBody>
      </p:sp>
      <p:sp>
        <p:nvSpPr>
          <p:cNvPr id="6" name="text-0zxwbt-1470-839">
            <a:extLst xmlns:a="http://schemas.openxmlformats.org/drawingml/2006/main">
              <a:ext uri="{FF2B5EF4-FFF2-40B4-BE49-F238E27FC236}">
                <a16:creationId xmlns:a16="http://schemas.microsoft.com/office/drawing/2014/main" id="{4B9E7B06-C3C5-42A9-B564-AC77E8D71767}"/>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20</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2a711b34f374d20"/>
          <a:stretch xmlns:a="http://schemas.openxmlformats.org/drawingml/2006/main"/>
        </p:blipFill>
        <p:spPr>
          <a:xfrm xmlns:a="http://schemas.openxmlformats.org/drawingml/2006/main">
            <a:off x="1209146" y="2066925"/>
            <a:ext cx="9059333" cy="5095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63D7A7B-7442-45D2-AC0F-F4F546C8C492}"/>
              </a:ext>
            </a:extLst>
          </p:cNvPr>
          <p:cNvSpPr>
            <a:spLocks xmlns:a="http://schemas.openxmlformats.org/drawingml/2006/main" noGrp="1"/>
          </p:cNvSpPr>
          <p:nvPr/>
        </p:nvSpPr>
        <p:spPr>
          <a:xfrm xmlns:a="http://schemas.openxmlformats.org/drawingml/2006/main">
            <a:off x="11144250" y="2190750"/>
            <a:ext cx="33337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9" name="text-0zxwbt-1185-239">
            <a:extLst xmlns:a="http://schemas.openxmlformats.org/drawingml/2006/main">
              <a:ext uri="{FF2B5EF4-FFF2-40B4-BE49-F238E27FC236}">
                <a16:creationId xmlns:a16="http://schemas.microsoft.com/office/drawing/2014/main" id="{D6E88285-77FF-4AB5-9983-105C465C6D96}"/>
              </a:ext>
            </a:extLst>
          </p:cNvPr>
          <p:cNvSpPr>
            <a:spLocks xmlns:a="http://schemas.openxmlformats.org/drawingml/2006/main" noGrp="1"/>
          </p:cNvSpPr>
          <p:nvPr/>
        </p:nvSpPr>
        <p:spPr>
          <a:xfrm xmlns:a="http://schemas.openxmlformats.org/drawingml/2006/main">
            <a:off x="11287125" y="2276475"/>
            <a:ext cx="304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확인한 근거</a:t>
            </a:r>
          </a:p>
        </p:txBody>
      </p:sp>
      <p:sp>
        <p:nvSpPr>
          <p:cNvPr id="10" name="text-0zxwbt-1185-290">
            <a:extLst xmlns:a="http://schemas.openxmlformats.org/drawingml/2006/main">
              <a:ext uri="{FF2B5EF4-FFF2-40B4-BE49-F238E27FC236}">
                <a16:creationId xmlns:a16="http://schemas.microsoft.com/office/drawing/2014/main" id="{29E399BD-9247-414C-9A3E-C2B930107965}"/>
              </a:ext>
            </a:extLst>
          </p:cNvPr>
          <p:cNvSpPr>
            <a:spLocks xmlns:a="http://schemas.openxmlformats.org/drawingml/2006/main" noGrp="1"/>
          </p:cNvSpPr>
          <p:nvPr/>
        </p:nvSpPr>
        <p:spPr>
          <a:xfrm xmlns:a="http://schemas.openxmlformats.org/drawingml/2006/main">
            <a:off x="11287125" y="2762250"/>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시행 중인 문서 버전</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자산 분류 조항</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예외·경과조치 적용 여부</a:t>
            </a:r>
          </a:p>
        </p:txBody>
      </p:sp>
      <p:sp>
        <p:nvSpPr>
          <p:cNvPr id="11" name="">
            <a:extLst xmlns:a="http://schemas.openxmlformats.org/drawingml/2006/main">
              <a:ext uri="{FF2B5EF4-FFF2-40B4-BE49-F238E27FC236}">
                <a16:creationId xmlns:a16="http://schemas.microsoft.com/office/drawing/2014/main" id="{6A0E8675-2DBD-472F-8982-CA207482C7E6}"/>
              </a:ext>
            </a:extLst>
          </p:cNvPr>
          <p:cNvSpPr>
            <a:spLocks xmlns:a="http://schemas.openxmlformats.org/drawingml/2006/main" noGrp="1"/>
          </p:cNvSpPr>
          <p:nvPr/>
        </p:nvSpPr>
        <p:spPr>
          <a:xfrm xmlns:a="http://schemas.openxmlformats.org/drawingml/2006/main">
            <a:off x="11144250" y="4657725"/>
            <a:ext cx="3333750" cy="1704975"/>
          </a:xfrm>
          <a:prstGeom xmlns:a="http://schemas.openxmlformats.org/drawingml/2006/main" prst="roundRect">
            <a:avLst>
              <a:gd name="adj" fmla="val 4469"/>
            </a:avLst>
          </a:prstGeom>
          <a:solidFill xmlns:a="http://schemas.openxmlformats.org/drawingml/2006/main">
            <a:srgbClr val="F5F7F8"/>
          </a:solidFill>
          <a:ln xmlns:a="http://schemas.openxmlformats.org/drawingml/2006/main" w="9525">
            <a:solidFill>
              <a:srgbClr val="D7D7D7"/>
            </a:solidFill>
          </a:ln>
        </p:spPr>
      </p:sp>
      <p:sp>
        <p:nvSpPr>
          <p:cNvPr id="12" name="text-0zxwbt-1185-498">
            <a:extLst xmlns:a="http://schemas.openxmlformats.org/drawingml/2006/main">
              <a:ext uri="{FF2B5EF4-FFF2-40B4-BE49-F238E27FC236}">
                <a16:creationId xmlns:a16="http://schemas.microsoft.com/office/drawing/2014/main" id="{6A6302BC-DCA5-4493-BC8E-AB0297197BC5}"/>
              </a:ext>
            </a:extLst>
          </p:cNvPr>
          <p:cNvSpPr>
            <a:spLocks xmlns:a="http://schemas.openxmlformats.org/drawingml/2006/main" noGrp="1"/>
          </p:cNvSpPr>
          <p:nvPr/>
        </p:nvSpPr>
        <p:spPr>
          <a:xfrm xmlns:a="http://schemas.openxmlformats.org/drawingml/2006/main">
            <a:off x="11287125" y="4743450"/>
            <a:ext cx="304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67519E"/>
                </a:solidFill>
                <a:latin typeface="Freesentation-4Regular"/>
                <a:ea typeface="Freesentation-4Regular"/>
                <a:cs typeface="Freesentation-4Regular"/>
              </a:defRPr>
            </a:pPr>
            <a:r>
              <a:rPr sz="2025" b="1">
                <a:solidFill>
                  <a:srgbClr val="67519E"/>
                </a:solidFill>
                <a:latin typeface="Freesentation-4Regular"/>
                <a:ea typeface="Freesentation-4Regular"/>
                <a:cs typeface="Freesentation-4Regular"/>
              </a:rPr>
              <a:t>업무에 넘길 결과</a:t>
            </a:r>
          </a:p>
        </p:txBody>
      </p:sp>
      <p:sp>
        <p:nvSpPr>
          <p:cNvPr id="13" name="text-0zxwbt-1185-549">
            <a:extLst xmlns:a="http://schemas.openxmlformats.org/drawingml/2006/main">
              <a:ext uri="{FF2B5EF4-FFF2-40B4-BE49-F238E27FC236}">
                <a16:creationId xmlns:a16="http://schemas.microsoft.com/office/drawing/2014/main" id="{CFF304F8-313F-4447-88AB-7522A0B843F7}"/>
              </a:ext>
            </a:extLst>
          </p:cNvPr>
          <p:cNvSpPr>
            <a:spLocks xmlns:a="http://schemas.openxmlformats.org/drawingml/2006/main" noGrp="1"/>
          </p:cNvSpPr>
          <p:nvPr/>
        </p:nvSpPr>
        <p:spPr>
          <a:xfrm xmlns:a="http://schemas.openxmlformats.org/drawingml/2006/main">
            <a:off x="11287125" y="52292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가능 여부와 한도</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사용한 데이터·조항</a:t>
            </a:r>
          </a:p>
          <a:p xmlns:a="http://schemas.openxmlformats.org/drawingml/2006/main">
            <a:pPr>
              <a:defRPr sz="2025" b="0">
                <a:solidFill>
                  <a:srgbClr val="262626"/>
                </a:solidFill>
                <a:latin typeface="Freesentation-4Regular"/>
                <a:ea typeface="Freesentation-4Regular"/>
                <a:cs typeface="Freesentation-4Regular"/>
              </a:defRPr>
            </a:pPr>
            <a:r>
              <a:rPr sz="2025" b="0">
                <a:solidFill>
                  <a:srgbClr val="262626"/>
                </a:solidFill>
                <a:latin typeface="Freesentation-4Regular"/>
                <a:ea typeface="Freesentation-4Regular"/>
                <a:cs typeface="Freesentation-4Regular"/>
              </a:rPr>
              <a:t>추가 확인이 필요한 항목</a:t>
            </a:r>
          </a:p>
        </p:txBody>
      </p:sp>
    </p:spTree>
    <p:extLst>
      <p:ext uri="{BB962C8B-B14F-4D97-AF65-F5344CB8AC3E}">
        <p14:creationId xmlns:p14="http://schemas.microsoft.com/office/powerpoint/2010/main" val="189010871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302805-267E-45E5-95EC-AEE6D3A8B631}"/>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dz0ua6-74-44">
            <a:extLst xmlns:a="http://schemas.openxmlformats.org/drawingml/2006/main">
              <a:ext uri="{FF2B5EF4-FFF2-40B4-BE49-F238E27FC236}">
                <a16:creationId xmlns:a16="http://schemas.microsoft.com/office/drawing/2014/main" id="{9187B6C7-8FC6-40E2-9AAD-BE9FB301DBB1}"/>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과거 판단 재현과 스키마 변경 시연</a:t>
            </a:r>
          </a:p>
        </p:txBody>
      </p:sp>
      <p:sp>
        <p:nvSpPr>
          <p:cNvPr id="3" name="text-dz0ua6-74-131">
            <a:extLst xmlns:a="http://schemas.openxmlformats.org/drawingml/2006/main">
              <a:ext uri="{FF2B5EF4-FFF2-40B4-BE49-F238E27FC236}">
                <a16:creationId xmlns:a16="http://schemas.microsoft.com/office/drawing/2014/main" id="{65AEDEDF-3BE9-4126-B972-8C697A9D9166}"/>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Ontological 확장 데모에서 지속 운영 질문을 검증</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728c6038fd4494b"/>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dz0ua6-80-841">
            <a:extLst xmlns:a="http://schemas.openxmlformats.org/drawingml/2006/main">
              <a:ext uri="{FF2B5EF4-FFF2-40B4-BE49-F238E27FC236}">
                <a16:creationId xmlns:a16="http://schemas.microsoft.com/office/drawing/2014/main" id="{7EB31F28-E6C6-41A2-B31A-DFF9C99EAB77}"/>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05 증권 샘플</a:t>
            </a:r>
          </a:p>
        </p:txBody>
      </p:sp>
      <p:sp>
        <p:nvSpPr>
          <p:cNvPr id="6" name="text-dz0ua6-1470-839">
            <a:extLst xmlns:a="http://schemas.openxmlformats.org/drawingml/2006/main">
              <a:ext uri="{FF2B5EF4-FFF2-40B4-BE49-F238E27FC236}">
                <a16:creationId xmlns:a16="http://schemas.microsoft.com/office/drawing/2014/main" id="{37605395-FA18-4E9E-B203-6F409928A312}"/>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21</a:t>
            </a:r>
          </a:p>
        </p:txBody>
      </p:sp>
      <p:graphicFrame>
        <p:nvGraphicFramePr>
          <p:cNvPr id="15" name=""/>
          <p:cNvGraphicFramePr/>
          <p:nvPr/>
        </p:nvGraphicFramePr>
        <p:xfrm>
          <a:off xmlns:a="http://schemas.openxmlformats.org/drawingml/2006/main" x="762000" y="2143125"/>
          <a:ext xmlns:a="http://schemas.openxmlformats.org/drawingml/2006/main" cx="13716000" cy="4200525"/>
        </p:xfrm>
        <a:graphic xmlns:a="http://schemas.openxmlformats.org/drawingml/2006/main">
          <a:graphicData uri="http://schemas.openxmlformats.org/drawingml/2006/table">
            <a:tbl>
              <a:tblPr/>
              <a:tblGrid>
                <a:gridCol w="6477000"/>
                <a:gridCol w="7239000"/>
              </a:tblGrid>
              <a:tr h="609600">
                <a:tc>
                  <a:txBody>
                    <a:bodyPr/>
                    <a:lstStyle/>
                    <a:p>
                      <a:r>
                        <a:rPr sz="1800" b="1">
                          <a:solidFill>
                            <a:srgbClr val="FFFFFF"/>
                          </a:solidFill>
                          <a:latin typeface="Freesentation-4Regular"/>
                          <a:ea typeface="Freesentation-4Regular"/>
                          <a:cs typeface="Freesentation-4Regular"/>
                        </a:rPr>
                        <a:t>질문</a:t>
                      </a:r>
                    </a:p>
                  </a:txBody>
                  <a:tcPr marL="91440" marR="91440" marT="45720" marB="45720">
                    <a:solidFill>
                      <a:srgbClr val="67519E"/>
                    </a:solidFill>
                  </a:tcPr>
                </a:tc>
                <a:tc>
                  <a:txBody>
                    <a:bodyPr/>
                    <a:lstStyle/>
                    <a:p>
                      <a:r>
                        <a:rPr sz="1800" b="1">
                          <a:solidFill>
                            <a:srgbClr val="FFFFFF"/>
                          </a:solidFill>
                          <a:latin typeface="Freesentation-4Regular"/>
                          <a:ea typeface="Freesentation-4Regular"/>
                          <a:cs typeface="Freesentation-4Regular"/>
                        </a:rPr>
                        <a:t>시연에서 확인한 결과</a:t>
                      </a:r>
                    </a:p>
                  </a:txBody>
                  <a:tcPr marL="91440" marR="91440" marT="45720" marB="45720">
                    <a:solidFill>
                      <a:srgbClr val="67519E"/>
                    </a:solidFill>
                  </a:tcPr>
                </a:tc>
              </a:tr>
              <a:tr h="897731">
                <a:tc>
                  <a:txBody>
                    <a:bodyPr/>
                    <a:lstStyle/>
                    <a:p>
                      <a:r>
                        <a:rPr sz="2100" b="1">
                          <a:solidFill>
                            <a:srgbClr val="67519E"/>
                          </a:solidFill>
                          <a:latin typeface="Freesentation-4Regular"/>
                          <a:ea typeface="Freesentation-4Regular"/>
                          <a:cs typeface="Freesentation-4Regular"/>
                        </a:rPr>
                        <a:t>8월 15일의 실제 분류는?</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현재 알고 있는 유효시점 기준으로는 RISK</a:t>
                      </a:r>
                    </a:p>
                  </a:txBody>
                  <a:tcPr marL="91440" marR="91440" marT="45720" marB="45720">
                    <a:solidFill>
                      <a:srgbClr val="FFFFFF"/>
                    </a:solidFill>
                  </a:tcPr>
                </a:tc>
              </a:tr>
              <a:tr h="897731">
                <a:tc>
                  <a:txBody>
                    <a:bodyPr/>
                    <a:lstStyle/>
                    <a:p>
                      <a:r>
                        <a:rPr sz="2100" b="1">
                          <a:solidFill>
                            <a:srgbClr val="67519E"/>
                          </a:solidFill>
                          <a:latin typeface="Freesentation-4Regular"/>
                          <a:ea typeface="Freesentation-4Regular"/>
                          <a:cs typeface="Freesentation-4Regular"/>
                        </a:rPr>
                        <a:t>그때 시스템이 알고 있던 값은?</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정정 입력 전 기록시점을 함께 지정하면 SAFE</a:t>
                      </a:r>
                    </a:p>
                  </a:txBody>
                  <a:tcPr marL="91440" marR="91440" marT="45720" marB="45720">
                    <a:solidFill>
                      <a:srgbClr val="F6F8F9"/>
                    </a:solidFill>
                  </a:tcPr>
                </a:tc>
              </a:tr>
              <a:tr h="897731">
                <a:tc>
                  <a:txBody>
                    <a:bodyPr/>
                    <a:lstStyle/>
                    <a:p>
                      <a:r>
                        <a:rPr sz="2100" b="1">
                          <a:solidFill>
                            <a:srgbClr val="67519E"/>
                          </a:solidFill>
                          <a:latin typeface="Freesentation-4Regular"/>
                          <a:ea typeface="Freesentation-4Regular"/>
                          <a:cs typeface="Freesentation-4Regular"/>
                        </a:rPr>
                        <a:t>상품의 속성명·타입 계층을 바꾸면?</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해당 이름·계층 변경에서 거래 50만 건을 다시 쓰지 않음</a:t>
                      </a:r>
                    </a:p>
                  </a:txBody>
                  <a:tcPr marL="91440" marR="91440" marT="45720" marB="45720">
                    <a:solidFill>
                      <a:srgbClr val="FFFFFF"/>
                    </a:solidFill>
                  </a:tcPr>
                </a:tc>
              </a:tr>
              <a:tr h="897731">
                <a:tc>
                  <a:txBody>
                    <a:bodyPr/>
                    <a:lstStyle/>
                    <a:p>
                      <a:r>
                        <a:rPr sz="2100" b="1">
                          <a:solidFill>
                            <a:srgbClr val="67519E"/>
                          </a:solidFill>
                          <a:latin typeface="Freesentation-4Regular"/>
                          <a:ea typeface="Freesentation-4Regular"/>
                          <a:cs typeface="Freesentation-4Regular"/>
                        </a:rPr>
                        <a:t>문자 수량을 정수로 바꾸면?</a:t>
                      </a:r>
                    </a:p>
                  </a:txBody>
                  <a:tcPr marL="91440" marR="91440" marT="45720" marB="45720">
                    <a:solidFill>
                      <a:srgbClr val="F1EDF7"/>
                    </a:solidFill>
                  </a:tcPr>
                </a:tc>
                <a:tc>
                  <a:txBody>
                    <a:bodyPr/>
                    <a:lstStyle/>
                    <a:p>
                      <a:r>
                        <a:rPr sz="2100" b="0">
                          <a:solidFill>
                            <a:srgbClr val="262626"/>
                          </a:solidFill>
                          <a:latin typeface="Freesentation-4Regular"/>
                          <a:ea typeface="Freesentation-4Regular"/>
                          <a:cs typeface="Freesentation-4Regular"/>
                        </a:rPr>
                        <a:t>변환 불가 값 1건을 확인하고 정정·재검증 후 완료</a:t>
                      </a:r>
                    </a:p>
                  </a:txBody>
                  <a:tcPr marL="91440" marR="91440" marT="45720" marB="45720">
                    <a:solidFill>
                      <a:srgbClr val="F6F8F9"/>
                    </a:solidFill>
                  </a:tcPr>
                </a:tc>
              </a:tr>
            </a:tbl>
          </a:graphicData>
        </a:graphic>
      </p:graphicFrame>
      <p:sp>
        <p:nvSpPr>
          <p:cNvPr id="8" name="text-dz0ua6-80-684">
            <a:extLst xmlns:a="http://schemas.openxmlformats.org/drawingml/2006/main">
              <a:ext uri="{FF2B5EF4-FFF2-40B4-BE49-F238E27FC236}">
                <a16:creationId xmlns:a16="http://schemas.microsoft.com/office/drawing/2014/main" id="{517ACAEA-C89E-4D4B-B58D-5A25F9E25CBA}"/>
              </a:ext>
            </a:extLst>
          </p:cNvPr>
          <p:cNvSpPr>
            <a:spLocks xmlns:a="http://schemas.openxmlformats.org/drawingml/2006/main" noGrp="1"/>
          </p:cNvSpPr>
          <p:nvPr/>
        </p:nvSpPr>
        <p:spPr>
          <a:xfrm xmlns:a="http://schemas.openxmlformats.org/drawingml/2006/main">
            <a:off x="762000" y="6515100"/>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67519E"/>
                </a:solidFill>
                <a:latin typeface="Freesentation-4Regular"/>
                <a:ea typeface="Freesentation-4Regular"/>
                <a:cs typeface="Freesentation-4Regular"/>
              </a:defRPr>
            </a:pPr>
            <a:r>
              <a:rPr sz="1875" b="1">
                <a:solidFill>
                  <a:srgbClr val="67519E"/>
                </a:solidFill>
                <a:latin typeface="Freesentation-4Regular"/>
                <a:ea typeface="Freesentation-4Regular"/>
                <a:cs typeface="Freesentation-4Regular"/>
              </a:rPr>
              <a:t>유효시점과 기록시점을 나누어 조회합니다. 금융 감사 적용에는 입력 스냅샷·규칙 버전의 통합이 필요합니다.</a:t>
            </a:r>
          </a:p>
        </p:txBody>
      </p:sp>
    </p:spTree>
    <p:extLst>
      <p:ext uri="{BB962C8B-B14F-4D97-AF65-F5344CB8AC3E}">
        <p14:creationId xmlns:p14="http://schemas.microsoft.com/office/powerpoint/2010/main" val="68766747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3FAB45-7082-407F-BDDB-E85F8B5D28CF}"/>
              </a:ext>
            </a:extLst>
          </p:cNvPr>
          <p:cNvSpPr>
            <a:spLocks xmlns:a="http://schemas.openxmlformats.org/drawingml/2006/main" noGrp="1"/>
          </p:cNvSpPr>
          <p:nvPr/>
        </p:nvSpPr>
        <p:spPr>
          <a:xfrm xmlns:a="http://schemas.openxmlformats.org/drawingml/2006/main">
            <a:off x="485775" y="457200"/>
            <a:ext cx="57150" cy="447675"/>
          </a:xfrm>
          <a:prstGeom xmlns:a="http://schemas.openxmlformats.org/drawingml/2006/main" prst="rect">
            <a:avLst/>
          </a:prstGeom>
          <a:solidFill xmlns:a="http://schemas.openxmlformats.org/drawingml/2006/main">
            <a:srgbClr val="67519E"/>
          </a:solidFill>
          <a:ln xmlns:a="http://schemas.openxmlformats.org/drawingml/2006/main" w="0">
            <a:noFill/>
          </a:ln>
        </p:spPr>
      </p:sp>
      <p:sp>
        <p:nvSpPr>
          <p:cNvPr id="2" name="text-ufyzyb-74-44">
            <a:extLst xmlns:a="http://schemas.openxmlformats.org/drawingml/2006/main">
              <a:ext uri="{FF2B5EF4-FFF2-40B4-BE49-F238E27FC236}">
                <a16:creationId xmlns:a16="http://schemas.microsoft.com/office/drawing/2014/main" id="{32D21099-F280-4D51-8196-D7B2A4C9C0E7}"/>
              </a:ext>
            </a:extLst>
          </p:cNvPr>
          <p:cNvSpPr>
            <a:spLocks xmlns:a="http://schemas.openxmlformats.org/drawingml/2006/main" noGrp="1"/>
          </p:cNvSpPr>
          <p:nvPr/>
        </p:nvSpPr>
        <p:spPr>
          <a:xfrm xmlns:a="http://schemas.openxmlformats.org/drawingml/2006/main">
            <a:off x="704850" y="419100"/>
            <a:ext cx="1200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62626"/>
                </a:solidFill>
                <a:latin typeface="GmarketSansMedium"/>
                <a:ea typeface="GmarketSansMedium"/>
                <a:cs typeface="GmarketSansMedium"/>
              </a:defRPr>
            </a:pPr>
            <a:r>
              <a:rPr sz="2850" b="0">
                <a:solidFill>
                  <a:srgbClr val="262626"/>
                </a:solidFill>
                <a:latin typeface="GmarketSansMedium"/>
                <a:ea typeface="GmarketSansMedium"/>
                <a:cs typeface="GmarketSansMedium"/>
              </a:rPr>
              <a:t>초기 검증 범위와 다음 단계</a:t>
            </a:r>
          </a:p>
        </p:txBody>
      </p:sp>
      <p:sp>
        <p:nvSpPr>
          <p:cNvPr id="3" name="text-ufyzyb-74-131">
            <a:extLst xmlns:a="http://schemas.openxmlformats.org/drawingml/2006/main">
              <a:ext uri="{FF2B5EF4-FFF2-40B4-BE49-F238E27FC236}">
                <a16:creationId xmlns:a16="http://schemas.microsoft.com/office/drawing/2014/main" id="{24C336A7-1F44-4AE0-80D9-2EBE97611042}"/>
              </a:ext>
            </a:extLst>
          </p:cNvPr>
          <p:cNvSpPr>
            <a:spLocks xmlns:a="http://schemas.openxmlformats.org/drawingml/2006/main" noGrp="1"/>
          </p:cNvSpPr>
          <p:nvPr/>
        </p:nvSpPr>
        <p:spPr>
          <a:xfrm xmlns:a="http://schemas.openxmlformats.org/drawingml/2006/main">
            <a:off x="704850" y="12477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7519E"/>
                </a:solidFill>
                <a:latin typeface="Freesentation-4Regular"/>
                <a:ea typeface="Freesentation-4Regular"/>
                <a:cs typeface="Freesentation-4Regular"/>
              </a:defRPr>
            </a:pPr>
            <a:r>
              <a:rPr sz="2100" b="0">
                <a:solidFill>
                  <a:srgbClr val="67519E"/>
                </a:solidFill>
                <a:latin typeface="Freesentation-4Regular"/>
                <a:ea typeface="Freesentation-4Regular"/>
                <a:cs typeface="Freesentation-4Regular"/>
              </a:rPr>
              <a:t>대표 업무 하나에서 구축·변경·운영까지 확인합니다</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eef41c7f2c84d96"/>
          <a:stretch xmlns:a="http://schemas.openxmlformats.org/drawingml/2006/main"/>
        </p:blipFill>
        <p:spPr>
          <a:xfrm xmlns:a="http://schemas.openxmlformats.org/drawingml/2006/main">
            <a:off x="13144500" y="501825"/>
            <a:ext cx="1495425" cy="310800"/>
          </a:xfrm>
          <a:prstGeom xmlns:a="http://schemas.openxmlformats.org/drawingml/2006/main" prst="rect">
            <a:avLst/>
          </a:prstGeom>
        </p:spPr>
      </p:pic>
      <p:sp>
        <p:nvSpPr>
          <p:cNvPr id="5" name="text-ufyzyb-80-841">
            <a:extLst xmlns:a="http://schemas.openxmlformats.org/drawingml/2006/main">
              <a:ext uri="{FF2B5EF4-FFF2-40B4-BE49-F238E27FC236}">
                <a16:creationId xmlns:a16="http://schemas.microsoft.com/office/drawing/2014/main" id="{921A53D4-D62C-4B3D-93E4-B50B62CE47CB}"/>
              </a:ext>
            </a:extLst>
          </p:cNvPr>
          <p:cNvSpPr>
            <a:spLocks xmlns:a="http://schemas.openxmlformats.org/drawingml/2006/main" noGrp="1"/>
          </p:cNvSpPr>
          <p:nvPr/>
        </p:nvSpPr>
        <p:spPr>
          <a:xfrm xmlns:a="http://schemas.openxmlformats.org/drawingml/2006/main">
            <a:off x="762000" y="8010525"/>
            <a:ext cx="1190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05 현대차증권 적용 논의</a:t>
            </a:r>
          </a:p>
        </p:txBody>
      </p:sp>
      <p:sp>
        <p:nvSpPr>
          <p:cNvPr id="6" name="text-ufyzyb-1470-839">
            <a:extLst xmlns:a="http://schemas.openxmlformats.org/drawingml/2006/main">
              <a:ext uri="{FF2B5EF4-FFF2-40B4-BE49-F238E27FC236}">
                <a16:creationId xmlns:a16="http://schemas.microsoft.com/office/drawing/2014/main" id="{C2E829AF-6BB1-4801-AB31-49B0A267F1AF}"/>
              </a:ext>
            </a:extLst>
          </p:cNvPr>
          <p:cNvSpPr>
            <a:spLocks xmlns:a="http://schemas.openxmlformats.org/drawingml/2006/main" noGrp="1"/>
          </p:cNvSpPr>
          <p:nvPr/>
        </p:nvSpPr>
        <p:spPr>
          <a:xfrm xmlns:a="http://schemas.openxmlformats.org/drawingml/2006/main">
            <a:off x="14001750" y="79914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686868"/>
                </a:solidFill>
                <a:latin typeface="Freesentation-4Regular"/>
                <a:ea typeface="Freesentation-4Regular"/>
                <a:cs typeface="Freesentation-4Regular"/>
              </a:defRPr>
            </a:pPr>
            <a:r>
              <a:rPr sz="1350" b="0">
                <a:solidFill>
                  <a:srgbClr val="686868"/>
                </a:solidFill>
                <a:latin typeface="Freesentation-4Regular"/>
                <a:ea typeface="Freesentation-4Regular"/>
                <a:cs typeface="Freesentation-4Regular"/>
              </a:rPr>
              <a:t>22</a:t>
            </a:r>
          </a:p>
        </p:txBody>
      </p:sp>
      <p:sp>
        <p:nvSpPr>
          <p:cNvPr id="7" name="text-ufyzyb-80-246">
            <a:extLst xmlns:a="http://schemas.openxmlformats.org/drawingml/2006/main">
              <a:ext uri="{FF2B5EF4-FFF2-40B4-BE49-F238E27FC236}">
                <a16:creationId xmlns:a16="http://schemas.microsoft.com/office/drawing/2014/main" id="{E7193F01-4E20-4ED7-804D-D816707D9C7E}"/>
              </a:ext>
            </a:extLst>
          </p:cNvPr>
          <p:cNvSpPr>
            <a:spLocks xmlns:a="http://schemas.openxmlformats.org/drawingml/2006/main" noGrp="1"/>
          </p:cNvSpPr>
          <p:nvPr/>
        </p:nvSpPr>
        <p:spPr>
          <a:xfrm xmlns:a="http://schemas.openxmlformats.org/drawingml/2006/main">
            <a:off x="762000" y="2343150"/>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67519E"/>
                </a:solidFill>
                <a:latin typeface="GmarketSansMedium"/>
                <a:ea typeface="GmarketSansMedium"/>
                <a:cs typeface="GmarketSansMedium"/>
              </a:defRPr>
            </a:pPr>
            <a:r>
              <a:rPr sz="2550" b="1">
                <a:solidFill>
                  <a:srgbClr val="67519E"/>
                </a:solidFill>
                <a:latin typeface="GmarketSansMedium"/>
                <a:ea typeface="GmarketSansMedium"/>
                <a:cs typeface="GmarketSansMedium"/>
              </a:rPr>
              <a:t>검증 대상</a:t>
            </a:r>
          </a:p>
        </p:txBody>
      </p:sp>
      <p:sp>
        <p:nvSpPr>
          <p:cNvPr id="8" name="text-ufyzyb-80-329">
            <a:extLst xmlns:a="http://schemas.openxmlformats.org/drawingml/2006/main">
              <a:ext uri="{FF2B5EF4-FFF2-40B4-BE49-F238E27FC236}">
                <a16:creationId xmlns:a16="http://schemas.microsoft.com/office/drawing/2014/main" id="{A5695E19-C04A-4F60-9B0A-188C5ED7035F}"/>
              </a:ext>
            </a:extLst>
          </p:cNvPr>
          <p:cNvSpPr>
            <a:spLocks xmlns:a="http://schemas.openxmlformats.org/drawingml/2006/main" noGrp="1"/>
          </p:cNvSpPr>
          <p:nvPr/>
        </p:nvSpPr>
        <p:spPr>
          <a:xfrm xmlns:a="http://schemas.openxmlformats.org/drawingml/2006/main">
            <a:off x="762000" y="3133725"/>
            <a:ext cx="647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262626"/>
                </a:solidFill>
                <a:latin typeface="Freesentation-4Regular"/>
                <a:ea typeface="Freesentation-4Regular"/>
                <a:cs typeface="Freesentation-4Regular"/>
              </a:defRPr>
            </a:pPr>
            <a:r>
              <a:rPr sz="2550" b="0">
                <a:solidFill>
                  <a:srgbClr val="262626"/>
                </a:solidFill>
                <a:latin typeface="Freesentation-4Regular"/>
                <a:ea typeface="Freesentation-4Regular"/>
                <a:cs typeface="Freesentation-4Regular"/>
              </a:rPr>
              <a:t>핵심 DB와 데이터 사전</a:t>
            </a:r>
          </a:p>
          <a:p xmlns:a="http://schemas.openxmlformats.org/drawingml/2006/main">
            <a:pPr>
              <a:defRPr sz="2550" b="0">
                <a:solidFill>
                  <a:srgbClr val="262626"/>
                </a:solidFill>
                <a:latin typeface="Freesentation-4Regular"/>
                <a:ea typeface="Freesentation-4Regular"/>
                <a:cs typeface="Freesentation-4Regular"/>
              </a:defRPr>
            </a:pPr>
            <a:r>
              <a:rPr sz="2550" b="0">
                <a:solidFill>
                  <a:srgbClr val="262626"/>
                </a:solidFill>
                <a:latin typeface="Freesentation-4Regular"/>
                <a:ea typeface="Freesentation-4Regular"/>
                <a:cs typeface="Freesentation-4Regular"/>
              </a:rPr>
              <a:t>업무 지침·약관의 개정 전후 문서</a:t>
            </a:r>
          </a:p>
          <a:p xmlns:a="http://schemas.openxmlformats.org/drawingml/2006/main">
            <a:pPr>
              <a:defRPr sz="2550" b="0">
                <a:solidFill>
                  <a:srgbClr val="262626"/>
                </a:solidFill>
                <a:latin typeface="Freesentation-4Regular"/>
                <a:ea typeface="Freesentation-4Regular"/>
                <a:cs typeface="Freesentation-4Regular"/>
              </a:defRPr>
            </a:pPr>
            <a:r>
              <a:rPr sz="2550" b="0">
                <a:solidFill>
                  <a:srgbClr val="262626"/>
                </a:solidFill>
                <a:latin typeface="Freesentation-4Regular"/>
                <a:ea typeface="Freesentation-4Regular"/>
                <a:cs typeface="Freesentation-4Regular"/>
              </a:rPr>
              <a:t>정답과 근거를 확정한 대표 질문</a:t>
            </a:r>
          </a:p>
        </p:txBody>
      </p:sp>
      <p:sp>
        <p:nvSpPr>
          <p:cNvPr id="9" name="text-ufyzyb-840-246">
            <a:extLst xmlns:a="http://schemas.openxmlformats.org/drawingml/2006/main">
              <a:ext uri="{FF2B5EF4-FFF2-40B4-BE49-F238E27FC236}">
                <a16:creationId xmlns:a16="http://schemas.microsoft.com/office/drawing/2014/main" id="{16C48272-C510-4192-9F27-38FBC1CE846A}"/>
              </a:ext>
            </a:extLst>
          </p:cNvPr>
          <p:cNvSpPr>
            <a:spLocks xmlns:a="http://schemas.openxmlformats.org/drawingml/2006/main" noGrp="1"/>
          </p:cNvSpPr>
          <p:nvPr/>
        </p:nvSpPr>
        <p:spPr>
          <a:xfrm xmlns:a="http://schemas.openxmlformats.org/drawingml/2006/main">
            <a:off x="8001000" y="234315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67519E"/>
                </a:solidFill>
                <a:latin typeface="GmarketSansMedium"/>
                <a:ea typeface="GmarketSansMedium"/>
                <a:cs typeface="GmarketSansMedium"/>
              </a:defRPr>
            </a:pPr>
            <a:r>
              <a:rPr sz="2550" b="1">
                <a:solidFill>
                  <a:srgbClr val="67519E"/>
                </a:solidFill>
                <a:latin typeface="GmarketSansMedium"/>
                <a:ea typeface="GmarketSansMedium"/>
                <a:cs typeface="GmarketSansMedium"/>
              </a:rPr>
              <a:t>확인할 결과</a:t>
            </a:r>
          </a:p>
        </p:txBody>
      </p:sp>
      <p:sp>
        <p:nvSpPr>
          <p:cNvPr id="10" name="text-ufyzyb-840-329">
            <a:extLst xmlns:a="http://schemas.openxmlformats.org/drawingml/2006/main">
              <a:ext uri="{FF2B5EF4-FFF2-40B4-BE49-F238E27FC236}">
                <a16:creationId xmlns:a16="http://schemas.microsoft.com/office/drawing/2014/main" id="{8F59996C-8670-4A2D-AAFD-74B2118369B6}"/>
              </a:ext>
            </a:extLst>
          </p:cNvPr>
          <p:cNvSpPr>
            <a:spLocks xmlns:a="http://schemas.openxmlformats.org/drawingml/2006/main" noGrp="1"/>
          </p:cNvSpPr>
          <p:nvPr/>
        </p:nvSpPr>
        <p:spPr>
          <a:xfrm xmlns:a="http://schemas.openxmlformats.org/drawingml/2006/main">
            <a:off x="8001000" y="3133725"/>
            <a:ext cx="647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262626"/>
                </a:solidFill>
                <a:latin typeface="Freesentation-4Regular"/>
                <a:ea typeface="Freesentation-4Regular"/>
                <a:cs typeface="Freesentation-4Regular"/>
              </a:defRPr>
            </a:pPr>
            <a:r>
              <a:rPr sz="2550" b="0">
                <a:solidFill>
                  <a:srgbClr val="262626"/>
                </a:solidFill>
                <a:latin typeface="Freesentation-4Regular"/>
                <a:ea typeface="Freesentation-4Regular"/>
                <a:cs typeface="Freesentation-4Regular"/>
              </a:rPr>
              <a:t>생성·매핑 결과의 검수 가능성</a:t>
            </a:r>
          </a:p>
          <a:p xmlns:a="http://schemas.openxmlformats.org/drawingml/2006/main">
            <a:pPr>
              <a:defRPr sz="2550" b="0">
                <a:solidFill>
                  <a:srgbClr val="262626"/>
                </a:solidFill>
                <a:latin typeface="Freesentation-4Regular"/>
                <a:ea typeface="Freesentation-4Regular"/>
                <a:cs typeface="Freesentation-4Regular"/>
              </a:defRPr>
            </a:pPr>
            <a:r>
              <a:rPr sz="2550" b="0">
                <a:solidFill>
                  <a:srgbClr val="262626"/>
                </a:solidFill>
                <a:latin typeface="Freesentation-4Regular"/>
                <a:ea typeface="Freesentation-4Regular"/>
                <a:cs typeface="Freesentation-4Regular"/>
              </a:rPr>
              <a:t>오류 정정 후 답변·판정 재현</a:t>
            </a:r>
          </a:p>
          <a:p xmlns:a="http://schemas.openxmlformats.org/drawingml/2006/main">
            <a:pPr>
              <a:defRPr sz="2550" b="0">
                <a:solidFill>
                  <a:srgbClr val="262626"/>
                </a:solidFill>
                <a:latin typeface="Freesentation-4Regular"/>
                <a:ea typeface="Freesentation-4Regular"/>
                <a:cs typeface="Freesentation-4Regular"/>
              </a:defRPr>
            </a:pPr>
            <a:r>
              <a:rPr sz="2550" b="0">
                <a:solidFill>
                  <a:srgbClr val="262626"/>
                </a:solidFill>
                <a:latin typeface="Freesentation-4Regular"/>
                <a:ea typeface="Freesentation-4Regular"/>
                <a:cs typeface="Freesentation-4Regular"/>
              </a:rPr>
              <a:t>고객 담당자의 직접 수정·운영</a:t>
            </a:r>
          </a:p>
        </p:txBody>
      </p:sp>
      <p:sp>
        <p:nvSpPr>
          <p:cNvPr id="11" name="text-ufyzyb-80-590">
            <a:extLst xmlns:a="http://schemas.openxmlformats.org/drawingml/2006/main">
              <a:ext uri="{FF2B5EF4-FFF2-40B4-BE49-F238E27FC236}">
                <a16:creationId xmlns:a16="http://schemas.microsoft.com/office/drawing/2014/main" id="{BFC375C0-4A88-49F3-B64F-BCD07F58AD51}"/>
              </a:ext>
            </a:extLst>
          </p:cNvPr>
          <p:cNvSpPr>
            <a:spLocks xmlns:a="http://schemas.openxmlformats.org/drawingml/2006/main" noGrp="1"/>
          </p:cNvSpPr>
          <p:nvPr/>
        </p:nvSpPr>
        <p:spPr>
          <a:xfrm xmlns:a="http://schemas.openxmlformats.org/drawingml/2006/main">
            <a:off x="762000" y="5619750"/>
            <a:ext cx="1333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67519E"/>
                </a:solidFill>
                <a:latin typeface="GmarketSansMedium"/>
                <a:ea typeface="GmarketSansMedium"/>
                <a:cs typeface="GmarketSansMedium"/>
              </a:defRPr>
            </a:pPr>
            <a:r>
              <a:rPr sz="2325" b="1">
                <a:solidFill>
                  <a:srgbClr val="67519E"/>
                </a:solidFill>
                <a:latin typeface="GmarketSansMedium"/>
                <a:ea typeface="GmarketSansMedium"/>
                <a:cs typeface="GmarketSansMedium"/>
              </a:rPr>
              <a:t>미팅에서 확정할 사항</a:t>
            </a:r>
          </a:p>
        </p:txBody>
      </p:sp>
      <p:sp>
        <p:nvSpPr>
          <p:cNvPr id="12" name="text-ufyzyb-80-663">
            <a:extLst xmlns:a="http://schemas.openxmlformats.org/drawingml/2006/main">
              <a:ext uri="{FF2B5EF4-FFF2-40B4-BE49-F238E27FC236}">
                <a16:creationId xmlns:a16="http://schemas.microsoft.com/office/drawing/2014/main" id="{73966F4E-5532-4734-96EC-9769DBB7F58D}"/>
              </a:ext>
            </a:extLst>
          </p:cNvPr>
          <p:cNvSpPr>
            <a:spLocks xmlns:a="http://schemas.openxmlformats.org/drawingml/2006/main" noGrp="1"/>
          </p:cNvSpPr>
          <p:nvPr/>
        </p:nvSpPr>
        <p:spPr>
          <a:xfrm xmlns:a="http://schemas.openxmlformats.org/drawingml/2006/main">
            <a:off x="762000" y="6315075"/>
            <a:ext cx="1333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62626"/>
                </a:solidFill>
                <a:latin typeface="Freesentation-4Regular"/>
                <a:ea typeface="Freesentation-4Regular"/>
                <a:cs typeface="Freesentation-4Regular"/>
              </a:defRPr>
            </a:pPr>
            <a:r>
              <a:rPr sz="2250" b="0">
                <a:solidFill>
                  <a:srgbClr val="262626"/>
                </a:solidFill>
                <a:latin typeface="Freesentation-4Regular"/>
                <a:ea typeface="Freesentation-4Regular"/>
                <a:cs typeface="Freesentation-4Regular"/>
              </a:rPr>
              <a:t>대상 업무와 원천 접근 범위, 운영 담당자, 제품 기본 범위와 추가 개발 범위</a:t>
            </a:r>
          </a:p>
        </p:txBody>
      </p:sp>
    </p:spTree>
    <p:extLst>
      <p:ext uri="{BB962C8B-B14F-4D97-AF65-F5344CB8AC3E}">
        <p14:creationId xmlns:p14="http://schemas.microsoft.com/office/powerpoint/2010/main" val="4187603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2026-10-04T02:41:03.0760000Z</dcterms:created>
  <dcterms:modified xsi:type="dcterms:W3CDTF">2026-10-04T02:41:03.0760000Z</dcterms:modified>
</coreProperties>
</file>